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4" name="TextBox 4"/>
          <p:cNvSpPr txBox="1"/>
          <p:nvPr/>
        </p:nvSpPr>
        <p:spPr>
          <a:xfrm>
            <a:off x="742950" y="1832610"/>
            <a:ext cx="8943213" cy="8191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上海地铁路径规划与运营管理系统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1332" y="2630805"/>
            <a:ext cx="5620702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C++17 核心 · REST 后端 · Web 可视化前端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3618" y="3250882"/>
            <a:ext cx="404829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东华大学 · 数据结构课程设计 · 2026-07</a:t>
            </a:r>
          </a:p>
        </p:txBody>
      </p:sp>
      <p:sp>
        <p:nvSpPr>
          <p:cNvPr id="7" name="Rectangle 7"/>
          <p:cNvSpPr/>
          <p:nvPr/>
        </p:nvSpPr>
        <p:spPr>
          <a:xfrm>
            <a:off x="952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631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94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条线路</a:t>
            </a:r>
          </a:p>
        </p:txBody>
      </p:sp>
      <p:sp>
        <p:nvSpPr>
          <p:cNvPr id="10" name="Rectangle 10"/>
          <p:cNvSpPr/>
          <p:nvPr/>
        </p:nvSpPr>
        <p:spPr>
          <a:xfrm>
            <a:off x="3238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1" name="TextBox 11"/>
          <p:cNvSpPr txBox="1"/>
          <p:nvPr/>
        </p:nvSpPr>
        <p:spPr>
          <a:xfrm>
            <a:off x="3661132" y="4692015"/>
            <a:ext cx="105973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79520" y="5267325"/>
            <a:ext cx="8229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个物理站</a:t>
            </a:r>
          </a:p>
        </p:txBody>
      </p:sp>
      <p:sp>
        <p:nvSpPr>
          <p:cNvPr id="13" name="Rectangle 13"/>
          <p:cNvSpPr/>
          <p:nvPr/>
        </p:nvSpPr>
        <p:spPr>
          <a:xfrm>
            <a:off x="5524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4" name="TextBox 14"/>
          <p:cNvSpPr txBox="1"/>
          <p:nvPr/>
        </p:nvSpPr>
        <p:spPr>
          <a:xfrm>
            <a:off x="5818856" y="4692015"/>
            <a:ext cx="131628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166485" y="5267325"/>
            <a:ext cx="62103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16" name="Rectangle 16"/>
          <p:cNvSpPr/>
          <p:nvPr/>
        </p:nvSpPr>
        <p:spPr>
          <a:xfrm>
            <a:off x="7810500" y="4381500"/>
            <a:ext cx="19050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489684" y="4692015"/>
            <a:ext cx="546632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33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75320" y="5267325"/>
            <a:ext cx="97536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REST 端点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5904" y="6347460"/>
            <a:ext cx="629557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v2.0.0 · 小组答辩版 · github.com/Weishi-corroding/shanghai-metro-pathfinder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项目概览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3618" y="1203008"/>
            <a:ext cx="2937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三大功能模块 · 系统数据规模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94183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🗺️ 路径规划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44880" y="2505075"/>
            <a:ext cx="186290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最短时间 / 最少换乘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44880" y="2886075"/>
            <a:ext cx="16154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优路径（K=3）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4488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换乘节点拆分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44880" y="3648075"/>
            <a:ext cx="138209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dirty="0">
                <a:solidFill>
                  <a:srgbClr val="DDEBFF"/>
                </a:solidFill>
                <a:latin typeface="Arial"/>
                <a:ea typeface="Arial"/>
                <a:cs typeface="Arial"/>
              </a:rPr>
              <a:t>Dijkstra + Yen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47675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4656582" y="1868805"/>
            <a:ext cx="162425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⚙️ 运营管理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59630" y="2505075"/>
            <a:ext cx="133788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单站关闭/开启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59630" y="2886075"/>
            <a:ext cx="134874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批量 CSV 更新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59630" y="3267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恢复初始状态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4659630" y="3648075"/>
            <a:ext cx="122682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闭站路径过滤</a:t>
            </a:r>
          </a:p>
        </p:txBody>
      </p:sp>
      <p:sp>
        <p:nvSpPr>
          <p:cNvPr id="18" name="Rectangle 18"/>
          <p:cNvSpPr/>
          <p:nvPr/>
        </p:nvSpPr>
        <p:spPr>
          <a:xfrm>
            <a:off x="8191500" y="1714500"/>
            <a:ext cx="3619500" cy="2476500"/>
          </a:xfrm>
          <a:prstGeom prst="roundRect">
            <a:avLst>
              <a:gd name="adj" fmla="val 461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9" name="TextBox 19"/>
          <p:cNvSpPr txBox="1"/>
          <p:nvPr/>
        </p:nvSpPr>
        <p:spPr>
          <a:xfrm>
            <a:off x="8371332" y="1868805"/>
            <a:ext cx="1460996" cy="41071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📊 网络分析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4380" y="2505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BFS 影响范围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374380" y="2886075"/>
            <a:ext cx="128473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DFS 连通分量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8374380" y="3267075"/>
            <a:ext cx="83667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K 阶邻居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74380" y="3648075"/>
            <a:ext cx="14287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分量数变化检测</a:t>
            </a:r>
          </a:p>
        </p:txBody>
      </p:sp>
      <p:sp>
        <p:nvSpPr>
          <p:cNvPr id="24" name="Rectangle 24"/>
          <p:cNvSpPr/>
          <p:nvPr/>
        </p:nvSpPr>
        <p:spPr>
          <a:xfrm>
            <a:off x="5715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5" name="TextBox 25"/>
          <p:cNvSpPr txBox="1"/>
          <p:nvPr/>
        </p:nvSpPr>
        <p:spPr>
          <a:xfrm>
            <a:off x="1229975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61110" y="5442585"/>
            <a:ext cx="33528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线路</a:t>
            </a:r>
          </a:p>
        </p:txBody>
      </p:sp>
      <p:sp>
        <p:nvSpPr>
          <p:cNvPr id="27" name="Rectangle 27"/>
          <p:cNvSpPr/>
          <p:nvPr/>
        </p:nvSpPr>
        <p:spPr>
          <a:xfrm>
            <a:off x="24288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8" name="TextBox 28"/>
          <p:cNvSpPr txBox="1"/>
          <p:nvPr/>
        </p:nvSpPr>
        <p:spPr>
          <a:xfrm>
            <a:off x="2900766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530+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03771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物理站</a:t>
            </a:r>
          </a:p>
        </p:txBody>
      </p:sp>
      <p:sp>
        <p:nvSpPr>
          <p:cNvPr id="30" name="Rectangle 30"/>
          <p:cNvSpPr/>
          <p:nvPr/>
        </p:nvSpPr>
        <p:spPr>
          <a:xfrm>
            <a:off x="428625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1" name="TextBox 31"/>
          <p:cNvSpPr txBox="1"/>
          <p:nvPr/>
        </p:nvSpPr>
        <p:spPr>
          <a:xfrm>
            <a:off x="4758141" y="4932045"/>
            <a:ext cx="770717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800+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89508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图节点</a:t>
            </a:r>
          </a:p>
        </p:txBody>
      </p:sp>
      <p:sp>
        <p:nvSpPr>
          <p:cNvPr id="33" name="Rectangle 33"/>
          <p:cNvSpPr/>
          <p:nvPr/>
        </p:nvSpPr>
        <p:spPr>
          <a:xfrm>
            <a:off x="614362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4" name="TextBox 34"/>
          <p:cNvSpPr txBox="1"/>
          <p:nvPr/>
        </p:nvSpPr>
        <p:spPr>
          <a:xfrm>
            <a:off x="6522225" y="4932045"/>
            <a:ext cx="95730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1300+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752463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有向边</a:t>
            </a:r>
          </a:p>
        </p:txBody>
      </p:sp>
      <p:sp>
        <p:nvSpPr>
          <p:cNvPr id="36" name="Rectangle 36"/>
          <p:cNvSpPr/>
          <p:nvPr/>
        </p:nvSpPr>
        <p:spPr>
          <a:xfrm>
            <a:off x="8001000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7" name="TextBox 37"/>
          <p:cNvSpPr txBox="1"/>
          <p:nvPr/>
        </p:nvSpPr>
        <p:spPr>
          <a:xfrm>
            <a:off x="8566183" y="4932045"/>
            <a:ext cx="584134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278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609838" y="5442585"/>
            <a:ext cx="4968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换乘边</a:t>
            </a:r>
          </a:p>
        </p:txBody>
      </p:sp>
      <p:sp>
        <p:nvSpPr>
          <p:cNvPr id="39" name="Rectangle 39"/>
          <p:cNvSpPr/>
          <p:nvPr/>
        </p:nvSpPr>
        <p:spPr>
          <a:xfrm>
            <a:off x="9858375" y="4667250"/>
            <a:ext cx="1714500" cy="1238250"/>
          </a:xfrm>
          <a:prstGeom prst="roundRect">
            <a:avLst>
              <a:gd name="adj" fmla="val 6154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0" name="TextBox 40"/>
          <p:cNvSpPr txBox="1"/>
          <p:nvPr/>
        </p:nvSpPr>
        <p:spPr>
          <a:xfrm>
            <a:off x="10516850" y="4932045"/>
            <a:ext cx="397551" cy="4693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240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386441" y="5442585"/>
            <a:ext cx="6583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测试通过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55904" y="6442710"/>
            <a:ext cx="253837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91A9C8"/>
                </a:solidFill>
                <a:latin typeface="Arial"/>
                <a:ea typeface="Microsoft YaHei"/>
                <a:cs typeface="Arial"/>
              </a:rPr>
              <a:t>~3,100 行 C++17 · 无第三方图库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430162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数据集建设 &amp; 图建模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3375850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对应课设：数据集 10 + 图拓扑 10 = 20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53618" y="1822132"/>
            <a:ext cx="865894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① Fetch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55904" y="2204085"/>
            <a:ext cx="15791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python fetch_all.py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5904" y="2442210"/>
            <a:ext cx="150824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Shanghai Metro API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6666" y="2696528"/>
            <a:ext cx="1810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metro_data/line-XX.csv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38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4563618" y="1822132"/>
            <a:ext cx="74795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② Build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565904" y="2204085"/>
            <a:ext cx="158599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build_dataset (C++)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565904" y="2442210"/>
            <a:ext cx="216072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换乘拆分 · 边填补 · 环线去伪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566666" y="2696528"/>
            <a:ext cx="170394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Station.csv, Edge.csv</a:t>
            </a:r>
          </a:p>
        </p:txBody>
      </p:sp>
      <p:sp>
        <p:nvSpPr>
          <p:cNvPr id="16" name="Rectangle 16"/>
          <p:cNvSpPr/>
          <p:nvPr/>
        </p:nvSpPr>
        <p:spPr>
          <a:xfrm>
            <a:off x="8191500" y="1666875"/>
            <a:ext cx="3238500" cy="1238250"/>
          </a:xfrm>
          <a:prstGeom prst="roundRect">
            <a:avLst>
              <a:gd name="adj" fmla="val 7692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8373618" y="1822132"/>
            <a:ext cx="120197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③ Visualize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375904" y="2204085"/>
            <a:ext cx="20153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fetch_station_coords.py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375904" y="2442210"/>
            <a:ext cx="1537231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OSM Overpass 投影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376666" y="2696528"/>
            <a:ext cx="91531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B7C7DE"/>
                </a:solidFill>
                <a:latin typeface="Arial"/>
                <a:ea typeface="Arial"/>
                <a:cs typeface="Arial"/>
              </a:rPr>
              <a:t>→ layout.json</a:t>
            </a:r>
          </a:p>
        </p:txBody>
      </p:sp>
      <p:sp>
        <p:nvSpPr>
          <p:cNvPr id="21" name="Line 21"/>
          <p:cNvSpPr/>
          <p:nvPr/>
        </p:nvSpPr>
        <p:spPr>
          <a:xfrm>
            <a:off x="381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2" name="Polygon 22"/>
          <p:cNvSpPr/>
          <p:nvPr/>
        </p:nvSpPr>
        <p:spPr>
          <a:xfrm>
            <a:off x="433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3" name="Line 23"/>
          <p:cNvSpPr/>
          <p:nvPr/>
        </p:nvSpPr>
        <p:spPr>
          <a:xfrm>
            <a:off x="7620000" y="2286000"/>
            <a:ext cx="571500" cy="9525"/>
          </a:xfrm>
          <a:custGeom>
            <a:avLst/>
            <a:gdLst/>
            <a:ahLst/>
            <a:cxnLst/>
            <a:rect l="l" t="t" r="r" b="b"/>
            <a:pathLst>
              <a:path w="571500" h="9525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24" name="Polygon 24"/>
          <p:cNvSpPr/>
          <p:nvPr/>
        </p:nvSpPr>
        <p:spPr>
          <a:xfrm>
            <a:off x="8143875" y="2219325"/>
            <a:ext cx="95250" cy="133350"/>
          </a:xfrm>
          <a:custGeom>
            <a:avLst/>
            <a:gdLst/>
            <a:ahLst/>
            <a:cxnLst/>
            <a:rect l="l" t="t" r="r" b="b"/>
            <a:pathLst>
              <a:path w="95250" h="133350">
                <a:moveTo>
                  <a:pt x="0" y="0"/>
                </a:moveTo>
                <a:lnTo>
                  <a:pt x="95250" y="66675"/>
                </a:lnTo>
                <a:lnTo>
                  <a:pt x="0" y="133350"/>
                </a:lnTo>
                <a:close/>
              </a:path>
            </a:pathLst>
          </a:custGeom>
          <a:solidFill>
            <a:srgbClr val="E4002B"/>
          </a:solidFill>
          <a:ln>
            <a:noFill/>
          </a:ln>
        </p:spPr>
      </p:sp>
      <p:sp>
        <p:nvSpPr>
          <p:cNvPr id="25" name="Rectangle 25"/>
          <p:cNvSpPr/>
          <p:nvPr/>
        </p:nvSpPr>
        <p:spPr>
          <a:xfrm>
            <a:off x="571500" y="3429000"/>
            <a:ext cx="4762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6" name="TextBox 26"/>
          <p:cNvSpPr txBox="1"/>
          <p:nvPr/>
        </p:nvSpPr>
        <p:spPr>
          <a:xfrm>
            <a:off x="753618" y="3584258"/>
            <a:ext cx="328197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换乘节点拆分（例：人民广场）</a:t>
            </a:r>
          </a:p>
        </p:txBody>
      </p:sp>
      <p:sp>
        <p:nvSpPr>
          <p:cNvPr id="27" name="Ellipse 27"/>
          <p:cNvSpPr/>
          <p:nvPr/>
        </p:nvSpPr>
        <p:spPr>
          <a:xfrm>
            <a:off x="1257300" y="4257675"/>
            <a:ext cx="533400" cy="533400"/>
          </a:xfrm>
          <a:prstGeom prst="ellipse">
            <a:avLst/>
          </a:prstGeom>
          <a:solidFill>
            <a:srgbClr val="E4002B"/>
          </a:solidFill>
          <a:ln>
            <a:noFill/>
          </a:ln>
        </p:spPr>
      </p:sp>
      <p:sp>
        <p:nvSpPr>
          <p:cNvPr id="28" name="TextBox 28"/>
          <p:cNvSpPr txBox="1"/>
          <p:nvPr/>
        </p:nvSpPr>
        <p:spPr>
          <a:xfrm>
            <a:off x="13313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0113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3384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1号线</a:t>
            </a:r>
          </a:p>
        </p:txBody>
      </p:sp>
      <p:sp>
        <p:nvSpPr>
          <p:cNvPr id="30" name="Ellipse 30"/>
          <p:cNvSpPr/>
          <p:nvPr/>
        </p:nvSpPr>
        <p:spPr>
          <a:xfrm>
            <a:off x="2686050" y="4257675"/>
            <a:ext cx="533400" cy="533400"/>
          </a:xfrm>
          <a:prstGeom prst="ellipse">
            <a:avLst/>
          </a:prstGeom>
          <a:solidFill>
            <a:srgbClr val="97D700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276007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0213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76719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2号线</a:t>
            </a:r>
          </a:p>
        </p:txBody>
      </p:sp>
      <p:sp>
        <p:nvSpPr>
          <p:cNvPr id="33" name="Ellipse 33"/>
          <p:cNvSpPr/>
          <p:nvPr/>
        </p:nvSpPr>
        <p:spPr>
          <a:xfrm>
            <a:off x="4114800" y="4257675"/>
            <a:ext cx="533400" cy="533400"/>
          </a:xfrm>
          <a:prstGeom prst="ellipse">
            <a:avLst/>
          </a:prstGeom>
          <a:solidFill>
            <a:srgbClr val="001E62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188821" y="4471035"/>
            <a:ext cx="38535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0816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195943" y="4934902"/>
            <a:ext cx="37111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8号线</a:t>
            </a:r>
          </a:p>
        </p:txBody>
      </p:sp>
      <p:sp>
        <p:nvSpPr>
          <p:cNvPr id="36" name="Line 36"/>
          <p:cNvSpPr/>
          <p:nvPr/>
        </p:nvSpPr>
        <p:spPr>
          <a:xfrm>
            <a:off x="179070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7" name="Line 37"/>
          <p:cNvSpPr/>
          <p:nvPr/>
        </p:nvSpPr>
        <p:spPr>
          <a:xfrm>
            <a:off x="3219450" y="4524375"/>
            <a:ext cx="895350" cy="9525"/>
          </a:xfrm>
          <a:custGeom>
            <a:avLst/>
            <a:gdLst/>
            <a:ahLst/>
            <a:cxnLst/>
            <a:rect l="l" t="t" r="r" b="b"/>
            <a:pathLst>
              <a:path w="895350" h="9525">
                <a:moveTo>
                  <a:pt x="0" y="0"/>
                </a:moveTo>
                <a:lnTo>
                  <a:pt x="895350" y="0"/>
                </a:lnTo>
              </a:path>
            </a:pathLst>
          </a:custGeom>
          <a:noFill/>
          <a:ln w="19050" cap="rnd">
            <a:solidFill>
              <a:srgbClr val="B7C7DE"/>
            </a:solidFill>
            <a:custDash>
              <a:ds d="300000" sp="200000"/>
            </a:custDash>
          </a:ln>
        </p:spPr>
      </p:sp>
      <p:sp>
        <p:nvSpPr>
          <p:cNvPr id="38" name="Freeform 38"/>
          <p:cNvSpPr/>
          <p:nvPr/>
        </p:nvSpPr>
        <p:spPr>
          <a:xfrm>
            <a:off x="1524000" y="3990975"/>
            <a:ext cx="2857500" cy="266700"/>
          </a:xfrm>
          <a:custGeom>
            <a:avLst/>
            <a:gdLst/>
            <a:ahLst/>
            <a:cxnLst/>
            <a:rect l="l" t="t" r="r" b="b"/>
            <a:pathLst>
              <a:path w="2857500" h="266700">
                <a:moveTo>
                  <a:pt x="0" y="266700"/>
                </a:moveTo>
                <a:cubicBezTo>
                  <a:pt x="952500" y="0"/>
                  <a:pt x="1905000" y="0"/>
                  <a:pt x="2857500" y="266700"/>
                </a:cubicBezTo>
              </a:path>
            </a:pathLst>
          </a:custGeom>
          <a:noFill/>
          <a:ln w="19050">
            <a:solidFill>
              <a:srgbClr val="B7C7DE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2668248" y="3963352"/>
            <a:ext cx="569004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换乘 t=5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756666" y="5315902"/>
            <a:ext cx="4046239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同名站按线路拆成 3 节点 · 换乘边双向 · 边权=5min · line=换乘</a:t>
            </a:r>
          </a:p>
        </p:txBody>
      </p:sp>
      <p:sp>
        <p:nvSpPr>
          <p:cNvPr id="41" name="Rectangle 41"/>
          <p:cNvSpPr/>
          <p:nvPr/>
        </p:nvSpPr>
        <p:spPr>
          <a:xfrm>
            <a:off x="5715000" y="3429000"/>
            <a:ext cx="5905500" cy="2190750"/>
          </a:xfrm>
          <a:prstGeom prst="roundRect">
            <a:avLst>
              <a:gd name="adj" fmla="val 4348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42" name="TextBox 42"/>
          <p:cNvSpPr txBox="1"/>
          <p:nvPr/>
        </p:nvSpPr>
        <p:spPr>
          <a:xfrm>
            <a:off x="5897118" y="3584258"/>
            <a:ext cx="9496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特殊处理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5898642" y="3950018"/>
            <a:ext cx="391961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4 号线环状：内圈/外圈方向标记（Line4Dir）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898642" y="4254818"/>
            <a:ext cx="362616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5/10/11 支线：3min 默认补边填补 Y 分叉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898642" y="4559618"/>
            <a:ext cx="395740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remove_loop_closure_edges() 移除环线伪边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898642" y="4864418"/>
            <a:ext cx="368667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UTF-8 BOM：utf-8-sig，中文 Excel 兼容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5898642" y="5169218"/>
            <a:ext cx="332205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▸ StationManager 拆分同名站为独立 ID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849675" y="6124575"/>
            <a:ext cx="64926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50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530 物理站 → 800+ 图节点 · 1044 边段 → 1300+ 有向边 · 278 换乘边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</p:sp>
      <p:sp>
        <p:nvSpPr>
          <p:cNvPr id="3" name="TextBox 3"/>
          <p:cNvSpPr txBox="1"/>
          <p:nvPr/>
        </p:nvSpPr>
        <p:spPr>
          <a:xfrm>
            <a:off x="745236" y="501015"/>
            <a:ext cx="1899361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路径算法</a:t>
            </a:r>
          </a:p>
        </p:txBody>
      </p:sp>
      <p:sp>
        <p:nvSpPr>
          <p:cNvPr id="4" name="Line 4"/>
          <p:cNvSpPr/>
          <p:nvPr/>
        </p:nvSpPr>
        <p:spPr>
          <a:xfrm>
            <a:off x="762000" y="104775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28575" cap="rnd">
            <a:solidFill>
              <a:srgbClr val="E4002B"/>
            </a:solidFill>
          </a:ln>
        </p:spPr>
      </p:sp>
      <p:sp>
        <p:nvSpPr>
          <p:cNvPr id="5" name="TextBox 5"/>
          <p:cNvSpPr txBox="1"/>
          <p:nvPr/>
        </p:nvSpPr>
        <p:spPr>
          <a:xfrm>
            <a:off x="755142" y="1187768"/>
            <a:ext cx="2140039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对应课设：路径算法 15 分</a:t>
            </a:r>
          </a:p>
        </p:txBody>
      </p:sp>
      <p:sp>
        <p:nvSpPr>
          <p:cNvPr id="6" name="Rectangle 6"/>
          <p:cNvSpPr/>
          <p:nvPr/>
        </p:nvSpPr>
        <p:spPr>
          <a:xfrm>
            <a:off x="571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705993" y="1822132"/>
            <a:ext cx="203672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Shortest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08279" y="2251710"/>
            <a:ext cx="13600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TimeWeight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09041" y="2553652"/>
            <a:ext cx="1834096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min-heap: std::greater&lt;&gt;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08279" y="2918460"/>
            <a:ext cx="144185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单源最短时间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429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563493" y="1822132"/>
            <a:ext cx="1778909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K-Shortest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565779" y="2251710"/>
            <a:ext cx="127223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算法: spur-path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566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565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最短路径</a:t>
            </a:r>
          </a:p>
        </p:txBody>
      </p:sp>
      <p:sp>
        <p:nvSpPr>
          <p:cNvPr id="16" name="Rectangle 16"/>
          <p:cNvSpPr/>
          <p:nvPr/>
        </p:nvSpPr>
        <p:spPr>
          <a:xfrm>
            <a:off x="62865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17" name="TextBox 17"/>
          <p:cNvSpPr txBox="1"/>
          <p:nvPr/>
        </p:nvSpPr>
        <p:spPr>
          <a:xfrm>
            <a:off x="6420993" y="1822132"/>
            <a:ext cx="1974481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Dijkstra Min Xfer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423279" y="2251710"/>
            <a:ext cx="193456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权重: (transfers, time)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424041" y="2553652"/>
            <a:ext cx="717423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DDEBFF"/>
                </a:solidFill>
                <a:latin typeface="Consolas"/>
                <a:ea typeface="Microsoft YaHei"/>
                <a:cs typeface="Consolas"/>
              </a:rPr>
              <a:t>字典序比较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423279" y="2918460"/>
            <a:ext cx="11187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最少换乘</a:t>
            </a:r>
          </a:p>
        </p:txBody>
      </p:sp>
      <p:sp>
        <p:nvSpPr>
          <p:cNvPr id="21" name="Rectangle 21"/>
          <p:cNvSpPr/>
          <p:nvPr/>
        </p:nvSpPr>
        <p:spPr>
          <a:xfrm>
            <a:off x="9144000" y="1666875"/>
            <a:ext cx="2667000" cy="1762125"/>
          </a:xfrm>
          <a:prstGeom prst="roundRect">
            <a:avLst>
              <a:gd name="adj" fmla="val 5405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2" name="TextBox 22"/>
          <p:cNvSpPr txBox="1"/>
          <p:nvPr/>
        </p:nvSpPr>
        <p:spPr>
          <a:xfrm>
            <a:off x="9278493" y="1822132"/>
            <a:ext cx="1718677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650" b="1" dirty="0">
                <a:solidFill>
                  <a:srgbClr val="FFD54F"/>
                </a:solidFill>
                <a:latin typeface="Arial"/>
                <a:ea typeface="Arial"/>
                <a:cs typeface="Arial"/>
              </a:rPr>
              <a:t>Yen K-Min Xfer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280779" y="2251710"/>
            <a:ext cx="171718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Yen + TransferWeight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281541" y="2553652"/>
            <a:ext cx="34671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05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K = 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80779" y="2918460"/>
            <a:ext cx="1656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用途: Top-K 最少换乘</a:t>
            </a:r>
          </a:p>
        </p:txBody>
      </p:sp>
      <p:sp>
        <p:nvSpPr>
          <p:cNvPr id="26" name="Rectangle 26"/>
          <p:cNvSpPr/>
          <p:nvPr/>
        </p:nvSpPr>
        <p:spPr>
          <a:xfrm>
            <a:off x="571500" y="3714750"/>
            <a:ext cx="59055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27" name="TextBox 27"/>
          <p:cNvSpPr txBox="1"/>
          <p:nvPr/>
        </p:nvSpPr>
        <p:spPr>
          <a:xfrm>
            <a:off x="753618" y="3822382"/>
            <a:ext cx="2647413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Dijkstra 主循环（简化）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56285" y="4069556"/>
            <a:ext cx="293268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pq: priority_queue&lt;Weight&gt; (min-heap)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6285" y="4279106"/>
            <a:ext cx="155619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pq.push({start, 0})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56285" y="4488656"/>
            <a:ext cx="11472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dist[start] = 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6285" y="4698206"/>
            <a:ext cx="16319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while (!pq.empty()) {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756285" y="4907756"/>
            <a:ext cx="265418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auto [u, du] = pq.top(); pq.pop();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756285" y="5117306"/>
            <a:ext cx="186666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if (visited[u]) continue;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756285" y="5326856"/>
            <a:ext cx="135931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visited[u] = true;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56285" y="5536406"/>
            <a:ext cx="264661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for (edge : g.neighbors(u, mgr)) {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6285" y="5745956"/>
            <a:ext cx="275909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DDEBFF"/>
                </a:solidFill>
                <a:latin typeface="Consolas"/>
                <a:ea typeface="Consolas"/>
                <a:cs typeface="Consolas"/>
              </a:rPr>
              <a:t>Weight nw = du + edge_weight(edge);</a:t>
            </a:r>
          </a:p>
        </p:txBody>
      </p:sp>
      <p:sp>
        <p:nvSpPr>
          <p:cNvPr id="37" name="Rectangle 37"/>
          <p:cNvSpPr/>
          <p:nvPr/>
        </p:nvSpPr>
        <p:spPr>
          <a:xfrm>
            <a:off x="6667500" y="3714750"/>
            <a:ext cx="5334000" cy="2381250"/>
          </a:xfrm>
          <a:prstGeom prst="roundRect">
            <a:avLst>
              <a:gd name="adj" fmla="val 4000"/>
            </a:avLst>
          </a:prstGeom>
          <a:solidFill>
            <a:srgbClr val="132846"/>
          </a:solidFill>
          <a:ln w="19050">
            <a:solidFill>
              <a:srgbClr val="1E3A5F"/>
            </a:solidFill>
          </a:ln>
        </p:spPr>
      </p:sp>
      <p:sp>
        <p:nvSpPr>
          <p:cNvPr id="38" name="TextBox 38"/>
          <p:cNvSpPr txBox="1"/>
          <p:nvPr/>
        </p:nvSpPr>
        <p:spPr>
          <a:xfrm>
            <a:off x="6849618" y="3822382"/>
            <a:ext cx="3888368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换乘计数三规则（v1.0.0 核心修复）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851904" y="4232910"/>
            <a:ext cx="423656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① 起点上第一条线不算换乘（line_trace 不预置起点线路）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851904" y="4499610"/>
            <a:ext cx="384413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② 沿途换乘计一次（新线路 ID 不等于当前线路 ID）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851904" y="4766310"/>
            <a:ext cx="41477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DDEBFF"/>
                </a:solidFill>
                <a:latin typeface="Arial"/>
                <a:ea typeface="Microsoft YaHei"/>
                <a:cs typeface="Arial"/>
              </a:rPr>
              <a:t>③ 终点前最后一段换乘边不算换乘（i+1==size 特殊处理）</a:t>
            </a:r>
          </a:p>
        </p:txBody>
      </p:sp>
      <p:sp>
        <p:nvSpPr>
          <p:cNvPr id="42" name="Line 42"/>
          <p:cNvSpPr/>
          <p:nvPr/>
        </p:nvSpPr>
        <p:spPr>
          <a:xfrm>
            <a:off x="6858000" y="5143500"/>
            <a:ext cx="4953000" cy="9525"/>
          </a:xfrm>
          <a:custGeom>
            <a:avLst/>
            <a:gdLst/>
            <a:ahLst/>
            <a:cxnLst/>
            <a:rect l="l" t="t" r="r" b="b"/>
            <a:pathLst>
              <a:path w="4953000" h="9525">
                <a:moveTo>
                  <a:pt x="0" y="0"/>
                </a:moveTo>
                <a:lnTo>
                  <a:pt x="4953000" y="0"/>
                </a:lnTo>
              </a:path>
            </a:pathLst>
          </a:custGeom>
          <a:noFill/>
          <a:ln w="9525" cap="rnd">
            <a:solidFill>
              <a:srgbClr val="1E3A5F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6849618" y="5232082"/>
            <a:ext cx="483222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FFD54F"/>
                </a:solidFill>
                <a:latin typeface="Arial"/>
                <a:ea typeface="Microsoft YaHei"/>
                <a:cs typeface="Arial"/>
              </a:rPr>
              <a:t>示例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6852285" y="5555456"/>
            <a:ext cx="266933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莘庄→陆家嘴 1 换乘（1 号线 → 2 号线）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852285" y="5784056"/>
            <a:ext cx="286621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B7C7DE"/>
                </a:solidFill>
                <a:latin typeface="Arial"/>
                <a:ea typeface="Microsoft YaHei"/>
                <a:cs typeface="Arial"/>
              </a:rPr>
              <a:t>人民广场→陆家嘴 0 换乘（直接乘 2 号线）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2026-07-01T04:39:37Z</dcterms:created>
  <dcterms:modified xsi:type="dcterms:W3CDTF">2026-07-01T04:39:37Z</dcterms:modified>
  <cp:category/>
  <cp:contentStatus/>
</cp:coreProperties>
</file>