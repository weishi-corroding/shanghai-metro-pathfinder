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E4002B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42950" y="1832610"/>
            <a:ext cx="8943213" cy="819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上海地铁路径规划与运营管理系统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51332" y="2630805"/>
            <a:ext cx="5620702" cy="41071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C++17 核心 · REST 后端 · Web 可视化前端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3618" y="3250882"/>
            <a:ext cx="4048296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东华大学 · 数据结构课程设计 · 2026-07</a:t>
            </a:r>
          </a:p>
        </p:txBody>
      </p:sp>
      <p:sp>
        <p:nvSpPr>
          <p:cNvPr id="7" name="Rectangle 7"/>
          <p:cNvSpPr/>
          <p:nvPr/>
        </p:nvSpPr>
        <p:spPr>
          <a:xfrm>
            <a:off x="952500" y="4381500"/>
            <a:ext cx="1905000" cy="1238250"/>
          </a:xfrm>
          <a:prstGeom prst="roundRect">
            <a:avLst>
              <a:gd name="adj" fmla="val 7692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8" name="TextBox 8"/>
          <p:cNvSpPr txBox="1"/>
          <p:nvPr/>
        </p:nvSpPr>
        <p:spPr>
          <a:xfrm>
            <a:off x="1631684" y="4692015"/>
            <a:ext cx="546632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330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594485" y="5267325"/>
            <a:ext cx="62103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条线路</a:t>
            </a:r>
          </a:p>
        </p:txBody>
      </p:sp>
      <p:sp>
        <p:nvSpPr>
          <p:cNvPr id="10" name="Rectangle 10"/>
          <p:cNvSpPr/>
          <p:nvPr/>
        </p:nvSpPr>
        <p:spPr>
          <a:xfrm>
            <a:off x="3238500" y="4381500"/>
            <a:ext cx="1905000" cy="1238250"/>
          </a:xfrm>
          <a:prstGeom prst="roundRect">
            <a:avLst>
              <a:gd name="adj" fmla="val 7692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11" name="TextBox 11"/>
          <p:cNvSpPr txBox="1"/>
          <p:nvPr/>
        </p:nvSpPr>
        <p:spPr>
          <a:xfrm>
            <a:off x="3661132" y="4692015"/>
            <a:ext cx="1059736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330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530+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779520" y="5267325"/>
            <a:ext cx="82296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个物理站</a:t>
            </a:r>
          </a:p>
        </p:txBody>
      </p:sp>
      <p:sp>
        <p:nvSpPr>
          <p:cNvPr id="13" name="Rectangle 13"/>
          <p:cNvSpPr/>
          <p:nvPr/>
        </p:nvSpPr>
        <p:spPr>
          <a:xfrm>
            <a:off x="5524500" y="4381500"/>
            <a:ext cx="1905000" cy="1238250"/>
          </a:xfrm>
          <a:prstGeom prst="roundRect">
            <a:avLst>
              <a:gd name="adj" fmla="val 7692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14" name="TextBox 14"/>
          <p:cNvSpPr txBox="1"/>
          <p:nvPr/>
        </p:nvSpPr>
        <p:spPr>
          <a:xfrm>
            <a:off x="5818856" y="4692015"/>
            <a:ext cx="1316288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330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1300+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166485" y="5267325"/>
            <a:ext cx="62103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有向边</a:t>
            </a:r>
          </a:p>
        </p:txBody>
      </p:sp>
      <p:sp>
        <p:nvSpPr>
          <p:cNvPr id="16" name="Rectangle 16"/>
          <p:cNvSpPr/>
          <p:nvPr/>
        </p:nvSpPr>
        <p:spPr>
          <a:xfrm>
            <a:off x="7810500" y="4381500"/>
            <a:ext cx="1905000" cy="1238250"/>
          </a:xfrm>
          <a:prstGeom prst="roundRect">
            <a:avLst>
              <a:gd name="adj" fmla="val 7692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17" name="TextBox 17"/>
          <p:cNvSpPr txBox="1"/>
          <p:nvPr/>
        </p:nvSpPr>
        <p:spPr>
          <a:xfrm>
            <a:off x="8489684" y="4692015"/>
            <a:ext cx="546632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330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275320" y="5267325"/>
            <a:ext cx="97536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REST 端点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55904" y="6347460"/>
            <a:ext cx="6295577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1A9C8"/>
                </a:solidFill>
                <a:latin typeface="Arial"/>
                <a:ea typeface="Microsoft YaHei"/>
                <a:cs typeface="Arial"/>
              </a:rPr>
              <a:t>v2.0.0 · 小组答辩版 · github.com/Weishi-corroding/shanghai-metro-pathfinder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745236" y="501015"/>
            <a:ext cx="1899361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3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项目概览</a:t>
            </a:r>
          </a:p>
        </p:txBody>
      </p:sp>
      <p:sp>
        <p:nvSpPr>
          <p:cNvPr id="4" name="Line 4"/>
          <p:cNvSpPr/>
          <p:nvPr/>
        </p:nvSpPr>
        <p:spPr>
          <a:xfrm>
            <a:off x="762000" y="104775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28575" cap="rnd">
            <a:solidFill>
              <a:srgbClr val="E4002B"/>
            </a:solidFill>
          </a:ln>
        </p:spPr>
      </p:sp>
      <p:sp>
        <p:nvSpPr>
          <p:cNvPr id="5" name="TextBox 5"/>
          <p:cNvSpPr txBox="1"/>
          <p:nvPr/>
        </p:nvSpPr>
        <p:spPr>
          <a:xfrm>
            <a:off x="753618" y="1203008"/>
            <a:ext cx="2937681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三大功能模块 · 系统数据规模</a:t>
            </a:r>
          </a:p>
        </p:txBody>
      </p:sp>
      <p:sp>
        <p:nvSpPr>
          <p:cNvPr id="6" name="Rectangle 6"/>
          <p:cNvSpPr/>
          <p:nvPr/>
        </p:nvSpPr>
        <p:spPr>
          <a:xfrm>
            <a:off x="762000" y="1714500"/>
            <a:ext cx="3619500" cy="2476500"/>
          </a:xfrm>
          <a:prstGeom prst="roundRect">
            <a:avLst>
              <a:gd name="adj" fmla="val 4615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941832" y="1868805"/>
            <a:ext cx="1624256" cy="41071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🗺️ 路径规划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44880" y="2505075"/>
            <a:ext cx="186290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最短时间 / 最少换乘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44880" y="2886075"/>
            <a:ext cx="161544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K 优路径（K=3）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44880" y="3267075"/>
            <a:ext cx="122682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换乘节点拆分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44880" y="3648075"/>
            <a:ext cx="1382095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500" dirty="0">
                <a:solidFill>
                  <a:srgbClr val="DDEBFF"/>
                </a:solidFill>
                <a:latin typeface="Arial"/>
                <a:ea typeface="Arial"/>
                <a:cs typeface="Arial"/>
              </a:rPr>
              <a:t>Dijkstra + Yen</a:t>
            </a:r>
          </a:p>
        </p:txBody>
      </p:sp>
      <p:sp>
        <p:nvSpPr>
          <p:cNvPr id="12" name="Rectangle 12"/>
          <p:cNvSpPr/>
          <p:nvPr/>
        </p:nvSpPr>
        <p:spPr>
          <a:xfrm>
            <a:off x="4476750" y="1714500"/>
            <a:ext cx="3619500" cy="2476500"/>
          </a:xfrm>
          <a:prstGeom prst="roundRect">
            <a:avLst>
              <a:gd name="adj" fmla="val 4615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13" name="TextBox 13"/>
          <p:cNvSpPr txBox="1"/>
          <p:nvPr/>
        </p:nvSpPr>
        <p:spPr>
          <a:xfrm>
            <a:off x="4656582" y="1868805"/>
            <a:ext cx="1624256" cy="41071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⚙️ 运营管理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659630" y="2505075"/>
            <a:ext cx="1337882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单站关闭/开启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4659630" y="2886075"/>
            <a:ext cx="134874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批量 CSV 更新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659630" y="3267075"/>
            <a:ext cx="122682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恢复初始状态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659630" y="3648075"/>
            <a:ext cx="122682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闭站路径过滤</a:t>
            </a:r>
          </a:p>
        </p:txBody>
      </p:sp>
      <p:sp>
        <p:nvSpPr>
          <p:cNvPr id="18" name="Rectangle 18"/>
          <p:cNvSpPr/>
          <p:nvPr/>
        </p:nvSpPr>
        <p:spPr>
          <a:xfrm>
            <a:off x="8191500" y="1714500"/>
            <a:ext cx="3619500" cy="2476500"/>
          </a:xfrm>
          <a:prstGeom prst="roundRect">
            <a:avLst>
              <a:gd name="adj" fmla="val 4615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19" name="TextBox 19"/>
          <p:cNvSpPr txBox="1"/>
          <p:nvPr/>
        </p:nvSpPr>
        <p:spPr>
          <a:xfrm>
            <a:off x="8371332" y="1868805"/>
            <a:ext cx="1460996" cy="41071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📊 网络分析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374380" y="2505075"/>
            <a:ext cx="1284732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BFS 影响范围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374380" y="2886075"/>
            <a:ext cx="1284732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DFS 连通分量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374380" y="3267075"/>
            <a:ext cx="836676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K 阶邻居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374380" y="3648075"/>
            <a:ext cx="142875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分量数变化检测</a:t>
            </a:r>
          </a:p>
        </p:txBody>
      </p:sp>
      <p:sp>
        <p:nvSpPr>
          <p:cNvPr id="24" name="Rectangle 24"/>
          <p:cNvSpPr/>
          <p:nvPr/>
        </p:nvSpPr>
        <p:spPr>
          <a:xfrm>
            <a:off x="571500" y="4667250"/>
            <a:ext cx="1714500" cy="1238250"/>
          </a:xfrm>
          <a:prstGeom prst="roundRect">
            <a:avLst>
              <a:gd name="adj" fmla="val 6154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25" name="TextBox 25"/>
          <p:cNvSpPr txBox="1"/>
          <p:nvPr/>
        </p:nvSpPr>
        <p:spPr>
          <a:xfrm>
            <a:off x="1229975" y="4932045"/>
            <a:ext cx="397551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240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261110" y="5442585"/>
            <a:ext cx="33528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线路</a:t>
            </a:r>
          </a:p>
        </p:txBody>
      </p:sp>
      <p:sp>
        <p:nvSpPr>
          <p:cNvPr id="27" name="Rectangle 27"/>
          <p:cNvSpPr/>
          <p:nvPr/>
        </p:nvSpPr>
        <p:spPr>
          <a:xfrm>
            <a:off x="2428875" y="4667250"/>
            <a:ext cx="1714500" cy="1238250"/>
          </a:xfrm>
          <a:prstGeom prst="roundRect">
            <a:avLst>
              <a:gd name="adj" fmla="val 6154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28" name="TextBox 28"/>
          <p:cNvSpPr txBox="1"/>
          <p:nvPr/>
        </p:nvSpPr>
        <p:spPr>
          <a:xfrm>
            <a:off x="2900766" y="4932045"/>
            <a:ext cx="770717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240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530+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3037713" y="5442585"/>
            <a:ext cx="49682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物理站</a:t>
            </a:r>
          </a:p>
        </p:txBody>
      </p:sp>
      <p:sp>
        <p:nvSpPr>
          <p:cNvPr id="30" name="Rectangle 30"/>
          <p:cNvSpPr/>
          <p:nvPr/>
        </p:nvSpPr>
        <p:spPr>
          <a:xfrm>
            <a:off x="4286250" y="4667250"/>
            <a:ext cx="1714500" cy="1238250"/>
          </a:xfrm>
          <a:prstGeom prst="roundRect">
            <a:avLst>
              <a:gd name="adj" fmla="val 6154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31" name="TextBox 31"/>
          <p:cNvSpPr txBox="1"/>
          <p:nvPr/>
        </p:nvSpPr>
        <p:spPr>
          <a:xfrm>
            <a:off x="4758141" y="4932045"/>
            <a:ext cx="770717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240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800+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4895088" y="5442585"/>
            <a:ext cx="49682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图节点</a:t>
            </a:r>
          </a:p>
        </p:txBody>
      </p:sp>
      <p:sp>
        <p:nvSpPr>
          <p:cNvPr id="33" name="Rectangle 33"/>
          <p:cNvSpPr/>
          <p:nvPr/>
        </p:nvSpPr>
        <p:spPr>
          <a:xfrm>
            <a:off x="6143625" y="4667250"/>
            <a:ext cx="1714500" cy="1238250"/>
          </a:xfrm>
          <a:prstGeom prst="roundRect">
            <a:avLst>
              <a:gd name="adj" fmla="val 6154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34" name="TextBox 34"/>
          <p:cNvSpPr txBox="1"/>
          <p:nvPr/>
        </p:nvSpPr>
        <p:spPr>
          <a:xfrm>
            <a:off x="6522225" y="4932045"/>
            <a:ext cx="957301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240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1300+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6752463" y="5442585"/>
            <a:ext cx="49682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有向边</a:t>
            </a:r>
          </a:p>
        </p:txBody>
      </p:sp>
      <p:sp>
        <p:nvSpPr>
          <p:cNvPr id="36" name="Rectangle 36"/>
          <p:cNvSpPr/>
          <p:nvPr/>
        </p:nvSpPr>
        <p:spPr>
          <a:xfrm>
            <a:off x="8001000" y="4667250"/>
            <a:ext cx="1714500" cy="1238250"/>
          </a:xfrm>
          <a:prstGeom prst="roundRect">
            <a:avLst>
              <a:gd name="adj" fmla="val 6154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37" name="TextBox 37"/>
          <p:cNvSpPr txBox="1"/>
          <p:nvPr/>
        </p:nvSpPr>
        <p:spPr>
          <a:xfrm>
            <a:off x="8566183" y="4932045"/>
            <a:ext cx="584134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240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278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8609838" y="5442585"/>
            <a:ext cx="49682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换乘边</a:t>
            </a:r>
          </a:p>
        </p:txBody>
      </p:sp>
      <p:sp>
        <p:nvSpPr>
          <p:cNvPr id="39" name="Rectangle 39"/>
          <p:cNvSpPr/>
          <p:nvPr/>
        </p:nvSpPr>
        <p:spPr>
          <a:xfrm>
            <a:off x="9858375" y="4667250"/>
            <a:ext cx="1714500" cy="1238250"/>
          </a:xfrm>
          <a:prstGeom prst="roundRect">
            <a:avLst>
              <a:gd name="adj" fmla="val 6154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40" name="TextBox 40"/>
          <p:cNvSpPr txBox="1"/>
          <p:nvPr/>
        </p:nvSpPr>
        <p:spPr>
          <a:xfrm>
            <a:off x="10516850" y="4932045"/>
            <a:ext cx="397551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240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0386441" y="5442585"/>
            <a:ext cx="65836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测试通过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755904" y="6442710"/>
            <a:ext cx="253837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1A9C8"/>
                </a:solidFill>
                <a:latin typeface="Arial"/>
                <a:ea typeface="Microsoft YaHei"/>
                <a:cs typeface="Arial"/>
              </a:rPr>
              <a:t>~3,100 行 C++17 · 无第三方图库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745236" y="501015"/>
            <a:ext cx="4301621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3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数据集建设 &amp; 图建模</a:t>
            </a:r>
          </a:p>
        </p:txBody>
      </p:sp>
      <p:sp>
        <p:nvSpPr>
          <p:cNvPr id="4" name="Line 4"/>
          <p:cNvSpPr/>
          <p:nvPr/>
        </p:nvSpPr>
        <p:spPr>
          <a:xfrm>
            <a:off x="762000" y="104775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28575" cap="rnd">
            <a:solidFill>
              <a:srgbClr val="E4002B"/>
            </a:solidFill>
          </a:ln>
        </p:spPr>
      </p:sp>
      <p:sp>
        <p:nvSpPr>
          <p:cNvPr id="5" name="TextBox 5"/>
          <p:cNvSpPr txBox="1"/>
          <p:nvPr/>
        </p:nvSpPr>
        <p:spPr>
          <a:xfrm>
            <a:off x="755142" y="1187768"/>
            <a:ext cx="337585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对应课设：数据集 10 + 图拓扑 10 = 20 分</a:t>
            </a:r>
          </a:p>
        </p:txBody>
      </p:sp>
      <p:sp>
        <p:nvSpPr>
          <p:cNvPr id="6" name="Rectangle 6"/>
          <p:cNvSpPr/>
          <p:nvPr/>
        </p:nvSpPr>
        <p:spPr>
          <a:xfrm>
            <a:off x="571500" y="1666875"/>
            <a:ext cx="3238500" cy="1238250"/>
          </a:xfrm>
          <a:prstGeom prst="roundRect">
            <a:avLst>
              <a:gd name="adj" fmla="val 7692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753618" y="1822132"/>
            <a:ext cx="86589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65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① Fetch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55904" y="2204085"/>
            <a:ext cx="157916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python fetch_all.py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55904" y="2442210"/>
            <a:ext cx="150824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B7C7DE"/>
                </a:solidFill>
                <a:latin typeface="Arial"/>
                <a:ea typeface="Arial"/>
                <a:cs typeface="Arial"/>
              </a:rPr>
              <a:t>Shanghai Metro API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56666" y="2696528"/>
            <a:ext cx="181000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B7C7DE"/>
                </a:solidFill>
                <a:latin typeface="Arial"/>
                <a:ea typeface="Arial"/>
                <a:cs typeface="Arial"/>
              </a:rPr>
              <a:t>→ metro_data/line-XX.csv</a:t>
            </a:r>
          </a:p>
        </p:txBody>
      </p:sp>
      <p:sp>
        <p:nvSpPr>
          <p:cNvPr id="11" name="Rectangle 11"/>
          <p:cNvSpPr/>
          <p:nvPr/>
        </p:nvSpPr>
        <p:spPr>
          <a:xfrm>
            <a:off x="4381500" y="1666875"/>
            <a:ext cx="3238500" cy="1238250"/>
          </a:xfrm>
          <a:prstGeom prst="roundRect">
            <a:avLst>
              <a:gd name="adj" fmla="val 7692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4563618" y="1822132"/>
            <a:ext cx="74795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65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② Build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565904" y="2204085"/>
            <a:ext cx="1585992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build_dataset (C++)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565904" y="2442210"/>
            <a:ext cx="2160727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换乘拆分 · 边填补 · 环线去伪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4566666" y="2696528"/>
            <a:ext cx="1703946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B7C7DE"/>
                </a:solidFill>
                <a:latin typeface="Arial"/>
                <a:ea typeface="Arial"/>
                <a:cs typeface="Arial"/>
              </a:rPr>
              <a:t>→ Station.csv, Edge.csv</a:t>
            </a:r>
          </a:p>
        </p:txBody>
      </p:sp>
      <p:sp>
        <p:nvSpPr>
          <p:cNvPr id="16" name="Rectangle 16"/>
          <p:cNvSpPr/>
          <p:nvPr/>
        </p:nvSpPr>
        <p:spPr>
          <a:xfrm>
            <a:off x="8191500" y="1666875"/>
            <a:ext cx="3238500" cy="1238250"/>
          </a:xfrm>
          <a:prstGeom prst="roundRect">
            <a:avLst>
              <a:gd name="adj" fmla="val 7692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17" name="TextBox 17"/>
          <p:cNvSpPr txBox="1"/>
          <p:nvPr/>
        </p:nvSpPr>
        <p:spPr>
          <a:xfrm>
            <a:off x="8373618" y="1822132"/>
            <a:ext cx="120197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65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③ Visualize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375904" y="2204085"/>
            <a:ext cx="201533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fetch_station_coords.py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375904" y="2442210"/>
            <a:ext cx="1537231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OSM Overpass 投影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376666" y="2696528"/>
            <a:ext cx="91531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B7C7DE"/>
                </a:solidFill>
                <a:latin typeface="Arial"/>
                <a:ea typeface="Arial"/>
                <a:cs typeface="Arial"/>
              </a:rPr>
              <a:t>→ layout.json</a:t>
            </a:r>
          </a:p>
        </p:txBody>
      </p:sp>
      <p:sp>
        <p:nvSpPr>
          <p:cNvPr id="21" name="Line 21"/>
          <p:cNvSpPr/>
          <p:nvPr/>
        </p:nvSpPr>
        <p:spPr>
          <a:xfrm>
            <a:off x="3810000" y="2286000"/>
            <a:ext cx="571500" cy="9525"/>
          </a:xfrm>
          <a:custGeom>
            <a:avLst/>
            <a:gdLst/>
            <a:ahLst/>
            <a:cxnLst/>
            <a:rect l="l" t="t" r="r" b="b"/>
            <a:pathLst>
              <a:path w="571500" h="9525">
                <a:moveTo>
                  <a:pt x="0" y="0"/>
                </a:moveTo>
                <a:lnTo>
                  <a:pt x="571500" y="0"/>
                </a:lnTo>
              </a:path>
            </a:pathLst>
          </a:custGeom>
          <a:noFill/>
          <a:ln w="28575" cap="rnd">
            <a:solidFill>
              <a:srgbClr val="E4002B"/>
            </a:solidFill>
          </a:ln>
        </p:spPr>
      </p:sp>
      <p:sp>
        <p:nvSpPr>
          <p:cNvPr id="22" name="Polygon 22"/>
          <p:cNvSpPr/>
          <p:nvPr/>
        </p:nvSpPr>
        <p:spPr>
          <a:xfrm>
            <a:off x="4333875" y="2219325"/>
            <a:ext cx="95250" cy="133350"/>
          </a:xfrm>
          <a:custGeom>
            <a:avLst/>
            <a:gdLst/>
            <a:ahLst/>
            <a:cxnLst/>
            <a:rect l="l" t="t" r="r" b="b"/>
            <a:pathLst>
              <a:path w="95250" h="133350">
                <a:moveTo>
                  <a:pt x="0" y="0"/>
                </a:moveTo>
                <a:lnTo>
                  <a:pt x="95250" y="66675"/>
                </a:lnTo>
                <a:lnTo>
                  <a:pt x="0" y="133350"/>
                </a:lnTo>
                <a:close/>
              </a:path>
            </a:pathLst>
          </a:custGeom>
          <a:solidFill>
            <a:srgbClr val="E4002B"/>
          </a:solidFill>
          <a:ln>
            <a:noFill/>
          </a:ln>
        </p:spPr>
      </p:sp>
      <p:sp>
        <p:nvSpPr>
          <p:cNvPr id="23" name="Line 23"/>
          <p:cNvSpPr/>
          <p:nvPr/>
        </p:nvSpPr>
        <p:spPr>
          <a:xfrm>
            <a:off x="7620000" y="2286000"/>
            <a:ext cx="571500" cy="9525"/>
          </a:xfrm>
          <a:custGeom>
            <a:avLst/>
            <a:gdLst/>
            <a:ahLst/>
            <a:cxnLst/>
            <a:rect l="l" t="t" r="r" b="b"/>
            <a:pathLst>
              <a:path w="571500" h="9525">
                <a:moveTo>
                  <a:pt x="0" y="0"/>
                </a:moveTo>
                <a:lnTo>
                  <a:pt x="571500" y="0"/>
                </a:lnTo>
              </a:path>
            </a:pathLst>
          </a:custGeom>
          <a:noFill/>
          <a:ln w="28575" cap="rnd">
            <a:solidFill>
              <a:srgbClr val="E4002B"/>
            </a:solidFill>
          </a:ln>
        </p:spPr>
      </p:sp>
      <p:sp>
        <p:nvSpPr>
          <p:cNvPr id="24" name="Polygon 24"/>
          <p:cNvSpPr/>
          <p:nvPr/>
        </p:nvSpPr>
        <p:spPr>
          <a:xfrm>
            <a:off x="8143875" y="2219325"/>
            <a:ext cx="95250" cy="133350"/>
          </a:xfrm>
          <a:custGeom>
            <a:avLst/>
            <a:gdLst/>
            <a:ahLst/>
            <a:cxnLst/>
            <a:rect l="l" t="t" r="r" b="b"/>
            <a:pathLst>
              <a:path w="95250" h="133350">
                <a:moveTo>
                  <a:pt x="0" y="0"/>
                </a:moveTo>
                <a:lnTo>
                  <a:pt x="95250" y="66675"/>
                </a:lnTo>
                <a:lnTo>
                  <a:pt x="0" y="133350"/>
                </a:lnTo>
                <a:close/>
              </a:path>
            </a:pathLst>
          </a:custGeom>
          <a:solidFill>
            <a:srgbClr val="E4002B"/>
          </a:solidFill>
          <a:ln>
            <a:noFill/>
          </a:ln>
        </p:spPr>
      </p:sp>
      <p:sp>
        <p:nvSpPr>
          <p:cNvPr id="25" name="Rectangle 25"/>
          <p:cNvSpPr/>
          <p:nvPr/>
        </p:nvSpPr>
        <p:spPr>
          <a:xfrm>
            <a:off x="571500" y="3429000"/>
            <a:ext cx="4762500" cy="2190750"/>
          </a:xfrm>
          <a:prstGeom prst="roundRect">
            <a:avLst>
              <a:gd name="adj" fmla="val 4348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26" name="TextBox 26"/>
          <p:cNvSpPr txBox="1"/>
          <p:nvPr/>
        </p:nvSpPr>
        <p:spPr>
          <a:xfrm>
            <a:off x="753618" y="3584258"/>
            <a:ext cx="3281972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换乘节点拆分（例：人民广场）</a:t>
            </a:r>
          </a:p>
        </p:txBody>
      </p:sp>
      <p:sp>
        <p:nvSpPr>
          <p:cNvPr id="27" name="Ellipse 27"/>
          <p:cNvSpPr/>
          <p:nvPr/>
        </p:nvSpPr>
        <p:spPr>
          <a:xfrm>
            <a:off x="1257300" y="4257675"/>
            <a:ext cx="533400" cy="533400"/>
          </a:xfrm>
          <a:prstGeom prst="ellipse">
            <a:avLst/>
          </a:prstGeom>
          <a:solidFill>
            <a:srgbClr val="E4002B"/>
          </a:solidFill>
          <a:ln>
            <a:noFill/>
          </a:ln>
        </p:spPr>
      </p:sp>
      <p:sp>
        <p:nvSpPr>
          <p:cNvPr id="28" name="TextBox 28"/>
          <p:cNvSpPr txBox="1"/>
          <p:nvPr/>
        </p:nvSpPr>
        <p:spPr>
          <a:xfrm>
            <a:off x="1331321" y="4471035"/>
            <a:ext cx="38535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0113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338443" y="4934902"/>
            <a:ext cx="37111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1号线</a:t>
            </a:r>
          </a:p>
        </p:txBody>
      </p:sp>
      <p:sp>
        <p:nvSpPr>
          <p:cNvPr id="30" name="Ellipse 30"/>
          <p:cNvSpPr/>
          <p:nvPr/>
        </p:nvSpPr>
        <p:spPr>
          <a:xfrm>
            <a:off x="2686050" y="4257675"/>
            <a:ext cx="533400" cy="533400"/>
          </a:xfrm>
          <a:prstGeom prst="ellipse">
            <a:avLst/>
          </a:prstGeom>
          <a:solidFill>
            <a:srgbClr val="97D700"/>
          </a:solidFill>
          <a:ln>
            <a:noFill/>
          </a:ln>
        </p:spPr>
      </p:sp>
      <p:sp>
        <p:nvSpPr>
          <p:cNvPr id="31" name="TextBox 31"/>
          <p:cNvSpPr txBox="1"/>
          <p:nvPr/>
        </p:nvSpPr>
        <p:spPr>
          <a:xfrm>
            <a:off x="2760071" y="4471035"/>
            <a:ext cx="38535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0213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2767193" y="4934902"/>
            <a:ext cx="37111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2号线</a:t>
            </a:r>
          </a:p>
        </p:txBody>
      </p:sp>
      <p:sp>
        <p:nvSpPr>
          <p:cNvPr id="33" name="Ellipse 33"/>
          <p:cNvSpPr/>
          <p:nvPr/>
        </p:nvSpPr>
        <p:spPr>
          <a:xfrm>
            <a:off x="4114800" y="4257675"/>
            <a:ext cx="533400" cy="533400"/>
          </a:xfrm>
          <a:prstGeom prst="ellipse">
            <a:avLst/>
          </a:prstGeom>
          <a:solidFill>
            <a:srgbClr val="001E62"/>
          </a:solidFill>
          <a:ln>
            <a:noFill/>
          </a:ln>
        </p:spPr>
      </p:sp>
      <p:sp>
        <p:nvSpPr>
          <p:cNvPr id="34" name="TextBox 34"/>
          <p:cNvSpPr txBox="1"/>
          <p:nvPr/>
        </p:nvSpPr>
        <p:spPr>
          <a:xfrm>
            <a:off x="4188821" y="4471035"/>
            <a:ext cx="38535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0816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4195943" y="4934902"/>
            <a:ext cx="37111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8号线</a:t>
            </a:r>
          </a:p>
        </p:txBody>
      </p:sp>
      <p:sp>
        <p:nvSpPr>
          <p:cNvPr id="36" name="Line 36"/>
          <p:cNvSpPr/>
          <p:nvPr/>
        </p:nvSpPr>
        <p:spPr>
          <a:xfrm>
            <a:off x="1790700" y="4524375"/>
            <a:ext cx="895350" cy="9525"/>
          </a:xfrm>
          <a:custGeom>
            <a:avLst/>
            <a:gdLst/>
            <a:ahLst/>
            <a:cxnLst/>
            <a:rect l="l" t="t" r="r" b="b"/>
            <a:pathLst>
              <a:path w="895350" h="9525">
                <a:moveTo>
                  <a:pt x="0" y="0"/>
                </a:moveTo>
                <a:lnTo>
                  <a:pt x="895350" y="0"/>
                </a:lnTo>
              </a:path>
            </a:pathLst>
          </a:custGeom>
          <a:noFill/>
          <a:ln w="19050" cap="rnd">
            <a:solidFill>
              <a:srgbClr val="B7C7DE"/>
            </a:solidFill>
            <a:custDash>
              <a:ds d="300000" sp="200000"/>
            </a:custDash>
          </a:ln>
        </p:spPr>
      </p:sp>
      <p:sp>
        <p:nvSpPr>
          <p:cNvPr id="37" name="Line 37"/>
          <p:cNvSpPr/>
          <p:nvPr/>
        </p:nvSpPr>
        <p:spPr>
          <a:xfrm>
            <a:off x="3219450" y="4524375"/>
            <a:ext cx="895350" cy="9525"/>
          </a:xfrm>
          <a:custGeom>
            <a:avLst/>
            <a:gdLst/>
            <a:ahLst/>
            <a:cxnLst/>
            <a:rect l="l" t="t" r="r" b="b"/>
            <a:pathLst>
              <a:path w="895350" h="9525">
                <a:moveTo>
                  <a:pt x="0" y="0"/>
                </a:moveTo>
                <a:lnTo>
                  <a:pt x="895350" y="0"/>
                </a:lnTo>
              </a:path>
            </a:pathLst>
          </a:custGeom>
          <a:noFill/>
          <a:ln w="19050" cap="rnd">
            <a:solidFill>
              <a:srgbClr val="B7C7DE"/>
            </a:solidFill>
            <a:custDash>
              <a:ds d="300000" sp="200000"/>
            </a:custDash>
          </a:ln>
        </p:spPr>
      </p:sp>
      <p:sp>
        <p:nvSpPr>
          <p:cNvPr id="38" name="Freeform 38"/>
          <p:cNvSpPr/>
          <p:nvPr/>
        </p:nvSpPr>
        <p:spPr>
          <a:xfrm>
            <a:off x="1524000" y="3990975"/>
            <a:ext cx="2857500" cy="266700"/>
          </a:xfrm>
          <a:custGeom>
            <a:avLst/>
            <a:gdLst/>
            <a:ahLst/>
            <a:cxnLst/>
            <a:rect l="l" t="t" r="r" b="b"/>
            <a:pathLst>
              <a:path w="2857500" h="266700">
                <a:moveTo>
                  <a:pt x="0" y="266700"/>
                </a:moveTo>
                <a:cubicBezTo>
                  <a:pt x="952500" y="0"/>
                  <a:pt x="1905000" y="0"/>
                  <a:pt x="2857500" y="266700"/>
                </a:cubicBezTo>
              </a:path>
            </a:pathLst>
          </a:custGeom>
          <a:noFill/>
          <a:ln w="19050">
            <a:solidFill>
              <a:srgbClr val="B7C7DE"/>
            </a:solidFill>
          </a:ln>
        </p:spPr>
      </p:sp>
      <p:sp>
        <p:nvSpPr>
          <p:cNvPr id="39" name="TextBox 39"/>
          <p:cNvSpPr txBox="1"/>
          <p:nvPr/>
        </p:nvSpPr>
        <p:spPr>
          <a:xfrm>
            <a:off x="2668248" y="3963352"/>
            <a:ext cx="56900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换乘 t=5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756666" y="5315902"/>
            <a:ext cx="4046239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同名站按线路拆成 3 节点 · 换乘边双向 · 边权=5min · line=换乘</a:t>
            </a:r>
          </a:p>
        </p:txBody>
      </p:sp>
      <p:sp>
        <p:nvSpPr>
          <p:cNvPr id="41" name="Rectangle 41"/>
          <p:cNvSpPr/>
          <p:nvPr/>
        </p:nvSpPr>
        <p:spPr>
          <a:xfrm>
            <a:off x="5715000" y="3429000"/>
            <a:ext cx="5905500" cy="2190750"/>
          </a:xfrm>
          <a:prstGeom prst="roundRect">
            <a:avLst>
              <a:gd name="adj" fmla="val 4348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42" name="TextBox 42"/>
          <p:cNvSpPr txBox="1"/>
          <p:nvPr/>
        </p:nvSpPr>
        <p:spPr>
          <a:xfrm>
            <a:off x="5897118" y="3584258"/>
            <a:ext cx="949681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特殊处理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5898642" y="3950018"/>
            <a:ext cx="3919616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▸ 4 号线环状：内圈/外圈方向标记（Line4Dir）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5898642" y="4254818"/>
            <a:ext cx="3626168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▸ 5/10/11 支线：3min 默认补边填补 Y 分叉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5898642" y="4559618"/>
            <a:ext cx="3957409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▸ remove_loop_closure_edges() 移除环线伪边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5898642" y="4864418"/>
            <a:ext cx="3686679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▸ UTF-8 BOM：utf-8-sig，中文 Excel 兼容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5898642" y="5169218"/>
            <a:ext cx="3322058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▸ StationManager 拆分同名站为独立 ID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2849675" y="6124575"/>
            <a:ext cx="649265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530 物理站 → 800+ 图节点 · 1044 边段 → 1300+ 有向边 · 278 换乘边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745236" y="501015"/>
            <a:ext cx="1899361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3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路径算法</a:t>
            </a:r>
          </a:p>
        </p:txBody>
      </p:sp>
      <p:sp>
        <p:nvSpPr>
          <p:cNvPr id="4" name="Line 4"/>
          <p:cNvSpPr/>
          <p:nvPr/>
        </p:nvSpPr>
        <p:spPr>
          <a:xfrm>
            <a:off x="762000" y="104775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28575" cap="rnd">
            <a:solidFill>
              <a:srgbClr val="E4002B"/>
            </a:solidFill>
          </a:ln>
        </p:spPr>
      </p:sp>
      <p:sp>
        <p:nvSpPr>
          <p:cNvPr id="5" name="TextBox 5"/>
          <p:cNvSpPr txBox="1"/>
          <p:nvPr/>
        </p:nvSpPr>
        <p:spPr>
          <a:xfrm>
            <a:off x="755142" y="1187768"/>
            <a:ext cx="2140039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对应课设：路径算法 15 分</a:t>
            </a:r>
          </a:p>
        </p:txBody>
      </p:sp>
      <p:sp>
        <p:nvSpPr>
          <p:cNvPr id="6" name="Rectangle 6"/>
          <p:cNvSpPr/>
          <p:nvPr/>
        </p:nvSpPr>
        <p:spPr>
          <a:xfrm>
            <a:off x="571500" y="1666875"/>
            <a:ext cx="2667000" cy="1762125"/>
          </a:xfrm>
          <a:prstGeom prst="roundRect">
            <a:avLst>
              <a:gd name="adj" fmla="val 5405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705993" y="1822132"/>
            <a:ext cx="2036726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65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Dijkstra Shortest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08279" y="2251710"/>
            <a:ext cx="136001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DDEBFF"/>
                </a:solidFill>
                <a:latin typeface="Consolas"/>
                <a:ea typeface="Microsoft YaHei"/>
                <a:cs typeface="Consolas"/>
              </a:rPr>
              <a:t>权重: TimeWeight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09041" y="2553652"/>
            <a:ext cx="1834096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min-heap: std::greater&lt;&gt;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08279" y="2918460"/>
            <a:ext cx="144185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用途: 单源最短时间</a:t>
            </a:r>
          </a:p>
        </p:txBody>
      </p:sp>
      <p:sp>
        <p:nvSpPr>
          <p:cNvPr id="11" name="Rectangle 11"/>
          <p:cNvSpPr/>
          <p:nvPr/>
        </p:nvSpPr>
        <p:spPr>
          <a:xfrm>
            <a:off x="3429000" y="1666875"/>
            <a:ext cx="2667000" cy="1762125"/>
          </a:xfrm>
          <a:prstGeom prst="roundRect">
            <a:avLst>
              <a:gd name="adj" fmla="val 5405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563493" y="1822132"/>
            <a:ext cx="17789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65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Yen K-Shortest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565779" y="2251710"/>
            <a:ext cx="1272235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DDEBFF"/>
                </a:solidFill>
                <a:latin typeface="Consolas"/>
                <a:ea typeface="Microsoft YaHei"/>
                <a:cs typeface="Consolas"/>
              </a:rPr>
              <a:t>算法: spur-path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566541" y="2553652"/>
            <a:ext cx="34671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K = 3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565779" y="2918460"/>
            <a:ext cx="165674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用途: Top-K 最短路径</a:t>
            </a:r>
          </a:p>
        </p:txBody>
      </p:sp>
      <p:sp>
        <p:nvSpPr>
          <p:cNvPr id="16" name="Rectangle 16"/>
          <p:cNvSpPr/>
          <p:nvPr/>
        </p:nvSpPr>
        <p:spPr>
          <a:xfrm>
            <a:off x="6286500" y="1666875"/>
            <a:ext cx="2667000" cy="1762125"/>
          </a:xfrm>
          <a:prstGeom prst="roundRect">
            <a:avLst>
              <a:gd name="adj" fmla="val 5405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17" name="TextBox 17"/>
          <p:cNvSpPr txBox="1"/>
          <p:nvPr/>
        </p:nvSpPr>
        <p:spPr>
          <a:xfrm>
            <a:off x="6420993" y="1822132"/>
            <a:ext cx="1974481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65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Dijkstra Min Xfer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423279" y="2251710"/>
            <a:ext cx="193456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DDEBFF"/>
                </a:solidFill>
                <a:latin typeface="Consolas"/>
                <a:ea typeface="Microsoft YaHei"/>
                <a:cs typeface="Consolas"/>
              </a:rPr>
              <a:t>权重: (transfers, time)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424041" y="2553652"/>
            <a:ext cx="71742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DDEBFF"/>
                </a:solidFill>
                <a:latin typeface="Consolas"/>
                <a:ea typeface="Microsoft YaHei"/>
                <a:cs typeface="Consolas"/>
              </a:rPr>
              <a:t>字典序比较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423279" y="2918460"/>
            <a:ext cx="111876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用途: 最少换乘</a:t>
            </a:r>
          </a:p>
        </p:txBody>
      </p:sp>
      <p:sp>
        <p:nvSpPr>
          <p:cNvPr id="21" name="Rectangle 21"/>
          <p:cNvSpPr/>
          <p:nvPr/>
        </p:nvSpPr>
        <p:spPr>
          <a:xfrm>
            <a:off x="9144000" y="1666875"/>
            <a:ext cx="2667000" cy="1762125"/>
          </a:xfrm>
          <a:prstGeom prst="roundRect">
            <a:avLst>
              <a:gd name="adj" fmla="val 5405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22" name="TextBox 22"/>
          <p:cNvSpPr txBox="1"/>
          <p:nvPr/>
        </p:nvSpPr>
        <p:spPr>
          <a:xfrm>
            <a:off x="9278493" y="1822132"/>
            <a:ext cx="1718677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65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Yen K-Min Xfer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9280779" y="2251710"/>
            <a:ext cx="171718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Yen + TransferWeight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281541" y="2553652"/>
            <a:ext cx="34671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K = 3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280779" y="2918460"/>
            <a:ext cx="165674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用途: Top-K 最少换乘</a:t>
            </a:r>
          </a:p>
        </p:txBody>
      </p:sp>
      <p:sp>
        <p:nvSpPr>
          <p:cNvPr id="26" name="Rectangle 26"/>
          <p:cNvSpPr/>
          <p:nvPr/>
        </p:nvSpPr>
        <p:spPr>
          <a:xfrm>
            <a:off x="571500" y="3714750"/>
            <a:ext cx="5905500" cy="2381250"/>
          </a:xfrm>
          <a:prstGeom prst="roundRect">
            <a:avLst>
              <a:gd name="adj" fmla="val 4000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27" name="TextBox 27"/>
          <p:cNvSpPr txBox="1"/>
          <p:nvPr/>
        </p:nvSpPr>
        <p:spPr>
          <a:xfrm>
            <a:off x="753618" y="3822382"/>
            <a:ext cx="2647413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Dijkstra 主循环（简化）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756285" y="4069556"/>
            <a:ext cx="293268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pq: priority_queue&lt;Weight&gt; (min-heap)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756285" y="4279106"/>
            <a:ext cx="155619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pq.push({start, 0})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756285" y="4488656"/>
            <a:ext cx="114728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dist[start] = 0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756285" y="4698206"/>
            <a:ext cx="163191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while (!pq.empty()) {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756285" y="4907756"/>
            <a:ext cx="2654189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auto [u, du] = pq.top(); pq.pop();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756285" y="5117306"/>
            <a:ext cx="186666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if (visited[u]) continue;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756285" y="5326856"/>
            <a:ext cx="135931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visited[u] = true;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756285" y="5536406"/>
            <a:ext cx="264661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for (edge : g.neighbors(u, mgr)) {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56285" y="5745956"/>
            <a:ext cx="2759095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Weight nw = du + edge_weight(edge);</a:t>
            </a:r>
          </a:p>
        </p:txBody>
      </p:sp>
      <p:sp>
        <p:nvSpPr>
          <p:cNvPr id="37" name="Rectangle 37"/>
          <p:cNvSpPr/>
          <p:nvPr/>
        </p:nvSpPr>
        <p:spPr>
          <a:xfrm>
            <a:off x="6667500" y="3714750"/>
            <a:ext cx="5334000" cy="2381250"/>
          </a:xfrm>
          <a:prstGeom prst="roundRect">
            <a:avLst>
              <a:gd name="adj" fmla="val 4000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38" name="TextBox 38"/>
          <p:cNvSpPr txBox="1"/>
          <p:nvPr/>
        </p:nvSpPr>
        <p:spPr>
          <a:xfrm>
            <a:off x="6849618" y="3822382"/>
            <a:ext cx="3888368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换乘计数三规则（v1.0.0 核心修复）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6851904" y="4232910"/>
            <a:ext cx="423656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① 起点上第一条线不算换乘（line_trace 不预置起点线路）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6851904" y="4499610"/>
            <a:ext cx="384413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② 沿途换乘计一次（新线路 ID 不等于当前线路 ID）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6851904" y="4766310"/>
            <a:ext cx="414771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③ 终点前最后一段换乘边不算换乘（i+1==size 特殊处理）</a:t>
            </a:r>
          </a:p>
        </p:txBody>
      </p:sp>
      <p:sp>
        <p:nvSpPr>
          <p:cNvPr id="42" name="Line 42"/>
          <p:cNvSpPr/>
          <p:nvPr/>
        </p:nvSpPr>
        <p:spPr>
          <a:xfrm>
            <a:off x="6858000" y="5143500"/>
            <a:ext cx="4953000" cy="9525"/>
          </a:xfrm>
          <a:custGeom>
            <a:avLst/>
            <a:gdLst/>
            <a:ahLst/>
            <a:cxnLst/>
            <a:rect l="l" t="t" r="r" b="b"/>
            <a:pathLst>
              <a:path w="4953000" h="9525">
                <a:moveTo>
                  <a:pt x="0" y="0"/>
                </a:moveTo>
                <a:lnTo>
                  <a:pt x="4953000" y="0"/>
                </a:lnTo>
              </a:path>
            </a:pathLst>
          </a:custGeom>
          <a:noFill/>
          <a:ln w="9525" cap="rnd">
            <a:solidFill>
              <a:srgbClr val="1E3A5F"/>
            </a:solidFill>
          </a:ln>
        </p:spPr>
      </p:sp>
      <p:sp>
        <p:nvSpPr>
          <p:cNvPr id="43" name="TextBox 43"/>
          <p:cNvSpPr txBox="1"/>
          <p:nvPr/>
        </p:nvSpPr>
        <p:spPr>
          <a:xfrm>
            <a:off x="6849618" y="5232082"/>
            <a:ext cx="483222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示例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6852285" y="5555456"/>
            <a:ext cx="266933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莘庄→陆家嘴 1 换乘（1 号线 → 2 号线）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6852285" y="5784056"/>
            <a:ext cx="2866215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人民广场→陆家嘴 0 换乘（直接乘 2 号线）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745236" y="501015"/>
            <a:ext cx="3631418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3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运营管理（M2）</a:t>
            </a:r>
          </a:p>
        </p:txBody>
      </p:sp>
      <p:sp>
        <p:nvSpPr>
          <p:cNvPr id="4" name="Line 4"/>
          <p:cNvSpPr/>
          <p:nvPr/>
        </p:nvSpPr>
        <p:spPr>
          <a:xfrm>
            <a:off x="762000" y="104775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28575" cap="rnd">
            <a:solidFill>
              <a:srgbClr val="E4002B"/>
            </a:solidFill>
          </a:ln>
        </p:spPr>
      </p:sp>
      <p:sp>
        <p:nvSpPr>
          <p:cNvPr id="5" name="TextBox 5"/>
          <p:cNvSpPr txBox="1"/>
          <p:nvPr/>
        </p:nvSpPr>
        <p:spPr>
          <a:xfrm>
            <a:off x="755142" y="1187768"/>
            <a:ext cx="2140039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对应课设：运营管理 15 分</a:t>
            </a:r>
          </a:p>
        </p:txBody>
      </p:sp>
      <p:sp>
        <p:nvSpPr>
          <p:cNvPr id="6" name="Rectangle 6"/>
          <p:cNvSpPr/>
          <p:nvPr/>
        </p:nvSpPr>
        <p:spPr>
          <a:xfrm>
            <a:off x="571500" y="1666875"/>
            <a:ext cx="3619500" cy="1952625"/>
          </a:xfrm>
          <a:prstGeom prst="roundRect">
            <a:avLst>
              <a:gd name="adj" fmla="val 4878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752856" y="1853565"/>
            <a:ext cx="1901083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🔒 单站关闭/开启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56285" y="2355056"/>
            <a:ext cx="229122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POST /api/stations/&lt;id&gt;/close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56285" y="2659856"/>
            <a:ext cx="224640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POST /api/stations/&lt;id&gt;/open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55904" y="2956560"/>
            <a:ext cx="255279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B7C7DE"/>
                </a:solidFill>
                <a:latin typeface="Arial"/>
                <a:ea typeface="Arial"/>
                <a:cs typeface="Arial"/>
              </a:rPr>
              <a:t>→ StationManager.set_status()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55904" y="3261360"/>
            <a:ext cx="1595323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锁: unique_lock (写)</a:t>
            </a:r>
          </a:p>
        </p:txBody>
      </p:sp>
      <p:sp>
        <p:nvSpPr>
          <p:cNvPr id="12" name="Rectangle 12"/>
          <p:cNvSpPr/>
          <p:nvPr/>
        </p:nvSpPr>
        <p:spPr>
          <a:xfrm>
            <a:off x="4381500" y="1666875"/>
            <a:ext cx="3619500" cy="1952625"/>
          </a:xfrm>
          <a:prstGeom prst="roundRect">
            <a:avLst>
              <a:gd name="adj" fmla="val 4878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13" name="TextBox 13"/>
          <p:cNvSpPr txBox="1"/>
          <p:nvPr/>
        </p:nvSpPr>
        <p:spPr>
          <a:xfrm>
            <a:off x="4562856" y="1853565"/>
            <a:ext cx="1927007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📦 批量 CSV 更新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566285" y="2355056"/>
            <a:ext cx="2532075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POST /api/stations/batch-update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4565904" y="2651760"/>
            <a:ext cx="205572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multipart/form-data 上传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565904" y="2956560"/>
            <a:ext cx="2564587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处理 update_station_status.csv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565904" y="3261360"/>
            <a:ext cx="130454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返回逐行诊断报告</a:t>
            </a:r>
          </a:p>
        </p:txBody>
      </p:sp>
      <p:sp>
        <p:nvSpPr>
          <p:cNvPr id="18" name="Rectangle 18"/>
          <p:cNvSpPr/>
          <p:nvPr/>
        </p:nvSpPr>
        <p:spPr>
          <a:xfrm>
            <a:off x="8191500" y="1666875"/>
            <a:ext cx="3619500" cy="1952625"/>
          </a:xfrm>
          <a:prstGeom prst="roundRect">
            <a:avLst>
              <a:gd name="adj" fmla="val 4878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19" name="TextBox 19"/>
          <p:cNvSpPr txBox="1"/>
          <p:nvPr/>
        </p:nvSpPr>
        <p:spPr>
          <a:xfrm>
            <a:off x="8372856" y="1853565"/>
            <a:ext cx="139222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80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↩️ 恢复初始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376285" y="2355056"/>
            <a:ext cx="211526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POST /api/stations/restore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375904" y="2651760"/>
            <a:ext cx="182880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→ Station_init.csv 快照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375904" y="2956560"/>
            <a:ext cx="1942643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build_dataset 生成时留存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375904" y="3261360"/>
            <a:ext cx="98145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一键完全复原</a:t>
            </a:r>
          </a:p>
        </p:txBody>
      </p:sp>
      <p:sp>
        <p:nvSpPr>
          <p:cNvPr id="24" name="Rectangle 24"/>
          <p:cNvSpPr/>
          <p:nvPr/>
        </p:nvSpPr>
        <p:spPr>
          <a:xfrm>
            <a:off x="571500" y="3810000"/>
            <a:ext cx="7429500" cy="1905000"/>
          </a:xfrm>
          <a:prstGeom prst="roundRect">
            <a:avLst>
              <a:gd name="adj" fmla="val 5000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25" name="TextBox 25"/>
          <p:cNvSpPr txBox="1"/>
          <p:nvPr/>
        </p:nvSpPr>
        <p:spPr>
          <a:xfrm>
            <a:off x="753618" y="3917632"/>
            <a:ext cx="4899253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闭站路径过滤（Graph::neighbors 内部逻辑）</a:t>
            </a:r>
          </a:p>
        </p:txBody>
      </p:sp>
      <p:sp>
        <p:nvSpPr>
          <p:cNvPr id="26" name="Line 26"/>
          <p:cNvSpPr/>
          <p:nvPr/>
        </p:nvSpPr>
        <p:spPr>
          <a:xfrm>
            <a:off x="1714500" y="4857750"/>
            <a:ext cx="2095500" cy="9525"/>
          </a:xfrm>
          <a:custGeom>
            <a:avLst/>
            <a:gdLst/>
            <a:ahLst/>
            <a:cxnLst/>
            <a:rect l="l" t="t" r="r" b="b"/>
            <a:pathLst>
              <a:path w="2095500" h="9525">
                <a:moveTo>
                  <a:pt x="0" y="0"/>
                </a:moveTo>
                <a:lnTo>
                  <a:pt x="2095500" y="0"/>
                </a:lnTo>
              </a:path>
            </a:pathLst>
          </a:custGeom>
          <a:noFill/>
          <a:ln w="19050" cap="rnd">
            <a:solidFill>
              <a:srgbClr val="4A6280"/>
            </a:solidFill>
          </a:ln>
        </p:spPr>
      </p:sp>
      <p:sp>
        <p:nvSpPr>
          <p:cNvPr id="27" name="Line 27"/>
          <p:cNvSpPr/>
          <p:nvPr/>
        </p:nvSpPr>
        <p:spPr>
          <a:xfrm>
            <a:off x="2667000" y="476250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0" y="0"/>
                </a:moveTo>
                <a:lnTo>
                  <a:pt x="190500" y="190500"/>
                </a:lnTo>
              </a:path>
            </a:pathLst>
          </a:custGeom>
          <a:noFill/>
          <a:ln w="28575" cap="rnd">
            <a:solidFill>
              <a:srgbClr val="E4002B"/>
            </a:solidFill>
          </a:ln>
        </p:spPr>
      </p:sp>
      <p:sp>
        <p:nvSpPr>
          <p:cNvPr id="28" name="Line 28"/>
          <p:cNvSpPr/>
          <p:nvPr/>
        </p:nvSpPr>
        <p:spPr>
          <a:xfrm>
            <a:off x="2667000" y="476250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0" y="190500"/>
                </a:moveTo>
                <a:lnTo>
                  <a:pt x="190500" y="0"/>
                </a:lnTo>
              </a:path>
            </a:pathLst>
          </a:custGeom>
          <a:noFill/>
          <a:ln w="28575" cap="rnd">
            <a:solidFill>
              <a:srgbClr val="E4002B"/>
            </a:solidFill>
          </a:ln>
        </p:spPr>
      </p:sp>
      <p:sp>
        <p:nvSpPr>
          <p:cNvPr id="29" name="Freeform 29"/>
          <p:cNvSpPr/>
          <p:nvPr/>
        </p:nvSpPr>
        <p:spPr>
          <a:xfrm>
            <a:off x="1714500" y="4476750"/>
            <a:ext cx="4191000" cy="381000"/>
          </a:xfrm>
          <a:custGeom>
            <a:avLst/>
            <a:gdLst/>
            <a:ahLst/>
            <a:cxnLst/>
            <a:rect l="l" t="t" r="r" b="b"/>
            <a:pathLst>
              <a:path w="4191000" h="381000">
                <a:moveTo>
                  <a:pt x="0" y="381000"/>
                </a:moveTo>
                <a:cubicBezTo>
                  <a:pt x="1397000" y="0"/>
                  <a:pt x="2794000" y="0"/>
                  <a:pt x="4191000" y="381000"/>
                </a:cubicBezTo>
              </a:path>
            </a:pathLst>
          </a:custGeom>
          <a:noFill/>
          <a:ln w="28575">
            <a:solidFill>
              <a:srgbClr val="97D700"/>
            </a:solidFill>
          </a:ln>
        </p:spPr>
      </p:sp>
      <p:sp>
        <p:nvSpPr>
          <p:cNvPr id="30" name="Line 30"/>
          <p:cNvSpPr/>
          <p:nvPr/>
        </p:nvSpPr>
        <p:spPr>
          <a:xfrm>
            <a:off x="3810000" y="4857750"/>
            <a:ext cx="2095500" cy="9525"/>
          </a:xfrm>
          <a:custGeom>
            <a:avLst/>
            <a:gdLst/>
            <a:ahLst/>
            <a:cxnLst/>
            <a:rect l="l" t="t" r="r" b="b"/>
            <a:pathLst>
              <a:path w="2095500" h="9525">
                <a:moveTo>
                  <a:pt x="2095500" y="0"/>
                </a:moveTo>
                <a:lnTo>
                  <a:pt x="0" y="0"/>
                </a:lnTo>
              </a:path>
            </a:pathLst>
          </a:custGeom>
          <a:noFill/>
          <a:ln w="19050" cap="rnd">
            <a:solidFill>
              <a:srgbClr val="4A6280"/>
            </a:solidFill>
          </a:ln>
        </p:spPr>
      </p:sp>
      <p:sp>
        <p:nvSpPr>
          <p:cNvPr id="31" name="Line 31"/>
          <p:cNvSpPr/>
          <p:nvPr/>
        </p:nvSpPr>
        <p:spPr>
          <a:xfrm>
            <a:off x="4762500" y="476250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0" y="0"/>
                </a:moveTo>
                <a:lnTo>
                  <a:pt x="190500" y="190500"/>
                </a:lnTo>
              </a:path>
            </a:pathLst>
          </a:custGeom>
          <a:noFill/>
          <a:ln w="28575" cap="rnd">
            <a:solidFill>
              <a:srgbClr val="E4002B"/>
            </a:solidFill>
          </a:ln>
        </p:spPr>
      </p:sp>
      <p:sp>
        <p:nvSpPr>
          <p:cNvPr id="32" name="Line 32"/>
          <p:cNvSpPr/>
          <p:nvPr/>
        </p:nvSpPr>
        <p:spPr>
          <a:xfrm>
            <a:off x="4762500" y="4762500"/>
            <a:ext cx="190500" cy="190500"/>
          </a:xfrm>
          <a:custGeom>
            <a:avLst/>
            <a:gdLst/>
            <a:ahLst/>
            <a:cxnLst/>
            <a:rect l="l" t="t" r="r" b="b"/>
            <a:pathLst>
              <a:path w="190500" h="190500">
                <a:moveTo>
                  <a:pt x="0" y="190500"/>
                </a:moveTo>
                <a:lnTo>
                  <a:pt x="190500" y="0"/>
                </a:lnTo>
              </a:path>
            </a:pathLst>
          </a:custGeom>
          <a:noFill/>
          <a:ln w="28575" cap="rnd">
            <a:solidFill>
              <a:srgbClr val="E4002B"/>
            </a:solidFill>
          </a:ln>
        </p:spPr>
      </p:sp>
      <p:sp>
        <p:nvSpPr>
          <p:cNvPr id="33" name="Ellipse 33"/>
          <p:cNvSpPr/>
          <p:nvPr/>
        </p:nvSpPr>
        <p:spPr>
          <a:xfrm>
            <a:off x="1409700" y="4552950"/>
            <a:ext cx="609600" cy="609600"/>
          </a:xfrm>
          <a:prstGeom prst="ellipse">
            <a:avLst/>
          </a:prstGeom>
          <a:solidFill>
            <a:srgbClr val="97D700"/>
          </a:solidFill>
          <a:ln>
            <a:noFill/>
          </a:ln>
        </p:spPr>
      </p:sp>
      <p:sp>
        <p:nvSpPr>
          <p:cNvPr id="34" name="TextBox 34"/>
          <p:cNvSpPr txBox="1"/>
          <p:nvPr/>
        </p:nvSpPr>
        <p:spPr>
          <a:xfrm>
            <a:off x="1638350" y="4746308"/>
            <a:ext cx="152301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6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355788" y="5315902"/>
            <a:ext cx="71742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起点（开）</a:t>
            </a:r>
          </a:p>
        </p:txBody>
      </p:sp>
      <p:sp>
        <p:nvSpPr>
          <p:cNvPr id="36" name="Ellipse 36"/>
          <p:cNvSpPr/>
          <p:nvPr/>
        </p:nvSpPr>
        <p:spPr>
          <a:xfrm>
            <a:off x="3505200" y="4552950"/>
            <a:ext cx="609600" cy="609600"/>
          </a:xfrm>
          <a:prstGeom prst="ellipse">
            <a:avLst/>
          </a:prstGeom>
          <a:solidFill>
            <a:srgbClr val="3A0F14"/>
          </a:solidFill>
          <a:ln w="28575">
            <a:solidFill>
              <a:srgbClr val="E4002B"/>
            </a:solidFill>
          </a:ln>
        </p:spPr>
      </p:sp>
      <p:sp>
        <p:nvSpPr>
          <p:cNvPr id="37" name="TextBox 37"/>
          <p:cNvSpPr txBox="1"/>
          <p:nvPr/>
        </p:nvSpPr>
        <p:spPr>
          <a:xfrm>
            <a:off x="3733850" y="4746308"/>
            <a:ext cx="152301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650" b="1" dirty="0">
                <a:solidFill>
                  <a:srgbClr val="E4002B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3663315" y="5315902"/>
            <a:ext cx="29337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E4002B"/>
                </a:solidFill>
                <a:latin typeface="Arial"/>
                <a:ea typeface="Microsoft YaHei"/>
                <a:cs typeface="Arial"/>
              </a:rPr>
              <a:t>闭站</a:t>
            </a:r>
          </a:p>
        </p:txBody>
      </p:sp>
      <p:sp>
        <p:nvSpPr>
          <p:cNvPr id="39" name="Ellipse 39"/>
          <p:cNvSpPr/>
          <p:nvPr/>
        </p:nvSpPr>
        <p:spPr>
          <a:xfrm>
            <a:off x="5600700" y="4552950"/>
            <a:ext cx="609600" cy="609600"/>
          </a:xfrm>
          <a:prstGeom prst="ellipse">
            <a:avLst/>
          </a:prstGeom>
          <a:solidFill>
            <a:srgbClr val="97D700"/>
          </a:solidFill>
          <a:ln>
            <a:noFill/>
          </a:ln>
        </p:spPr>
      </p:sp>
      <p:sp>
        <p:nvSpPr>
          <p:cNvPr id="40" name="TextBox 40"/>
          <p:cNvSpPr txBox="1"/>
          <p:nvPr/>
        </p:nvSpPr>
        <p:spPr>
          <a:xfrm>
            <a:off x="5829350" y="4746308"/>
            <a:ext cx="152301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6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5546788" y="5315902"/>
            <a:ext cx="71742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邻站（开）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6851904" y="4632960"/>
            <a:ext cx="881421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E4002B"/>
                </a:solidFill>
                <a:latin typeface="Arial"/>
                <a:ea typeface="Microsoft YaHei"/>
                <a:cs typeface="Arial"/>
              </a:rPr>
              <a:t>闭站节点 B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6851904" y="4842510"/>
            <a:ext cx="52105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E4002B"/>
                </a:solidFill>
                <a:latin typeface="Arial"/>
                <a:ea typeface="Microsoft YaHei"/>
                <a:cs typeface="Arial"/>
              </a:rPr>
              <a:t>被过滤</a:t>
            </a:r>
          </a:p>
        </p:txBody>
      </p:sp>
      <p:sp>
        <p:nvSpPr>
          <p:cNvPr id="44" name="Rectangle 44"/>
          <p:cNvSpPr/>
          <p:nvPr/>
        </p:nvSpPr>
        <p:spPr>
          <a:xfrm>
            <a:off x="8382000" y="3810000"/>
            <a:ext cx="3238500" cy="1905000"/>
          </a:xfrm>
          <a:prstGeom prst="roundRect">
            <a:avLst>
              <a:gd name="adj" fmla="val 5000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45" name="TextBox 45"/>
          <p:cNvSpPr txBox="1"/>
          <p:nvPr/>
        </p:nvSpPr>
        <p:spPr>
          <a:xfrm>
            <a:off x="8564880" y="3933825"/>
            <a:ext cx="1177145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Web 管理 UI</a:t>
            </a:r>
          </a:p>
        </p:txBody>
      </p:sp>
      <p:sp>
        <p:nvSpPr>
          <p:cNvPr id="46" name="Rectangle 46"/>
          <p:cNvSpPr/>
          <p:nvPr/>
        </p:nvSpPr>
        <p:spPr>
          <a:xfrm>
            <a:off x="8572500" y="4238625"/>
            <a:ext cx="2857500" cy="1333500"/>
          </a:xfrm>
          <a:prstGeom prst="rect">
            <a:avLst/>
          </a:prstGeom>
          <a:solidFill>
            <a:srgbClr val="0F2A45"/>
          </a:solidFill>
          <a:ln w="9525">
            <a:solidFill>
              <a:srgbClr val="1E3A5F"/>
            </a:solidFill>
          </a:ln>
        </p:spPr>
      </p:sp>
      <p:sp>
        <p:nvSpPr>
          <p:cNvPr id="47" name="Rectangle 47"/>
          <p:cNvSpPr/>
          <p:nvPr/>
        </p:nvSpPr>
        <p:spPr>
          <a:xfrm>
            <a:off x="8572500" y="4238625"/>
            <a:ext cx="2857500" cy="1333500"/>
          </a:xfrm>
          <a:prstGeom prst="rect">
            <a:avLst/>
          </a:prstGeom>
          <a:noFill/>
          <a:ln w="14288">
            <a:solidFill>
              <a:srgbClr val="1E3A5F"/>
            </a:solidFill>
            <a:custDash>
              <a:ds d="400000" sp="266666"/>
            </a:custDash>
          </a:ln>
        </p:spPr>
      </p:sp>
      <p:sp>
        <p:nvSpPr>
          <p:cNvPr id="48" name="TextBox 48"/>
          <p:cNvSpPr txBox="1"/>
          <p:nvPr/>
        </p:nvSpPr>
        <p:spPr>
          <a:xfrm>
            <a:off x="8931783" y="4839652"/>
            <a:ext cx="213893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线路筛选 + 状态切换 + CSV 上传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564642" y="6236018"/>
            <a:ext cx="1821999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批量更新 41 站 &lt;10ms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4755642" y="6236018"/>
            <a:ext cx="1649349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受影响路径实时重算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8565642" y="6236018"/>
            <a:ext cx="233995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线程安全（shared_mutex）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755904" y="5756910"/>
            <a:ext cx="400232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但换乘边永不封锁 —— 换乘节点属同一物理站的不同平台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745236" y="501015"/>
            <a:ext cx="1899361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3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网络分析</a:t>
            </a:r>
          </a:p>
        </p:txBody>
      </p:sp>
      <p:sp>
        <p:nvSpPr>
          <p:cNvPr id="4" name="Line 4"/>
          <p:cNvSpPr/>
          <p:nvPr/>
        </p:nvSpPr>
        <p:spPr>
          <a:xfrm>
            <a:off x="762000" y="104775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28575" cap="rnd">
            <a:solidFill>
              <a:srgbClr val="E4002B"/>
            </a:solidFill>
          </a:ln>
        </p:spPr>
      </p:sp>
      <p:sp>
        <p:nvSpPr>
          <p:cNvPr id="5" name="TextBox 5"/>
          <p:cNvSpPr txBox="1"/>
          <p:nvPr/>
        </p:nvSpPr>
        <p:spPr>
          <a:xfrm>
            <a:off x="755142" y="1187768"/>
            <a:ext cx="2040084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对应课设：网络分析 5 分</a:t>
            </a:r>
          </a:p>
        </p:txBody>
      </p:sp>
      <p:sp>
        <p:nvSpPr>
          <p:cNvPr id="6" name="Rectangle 6"/>
          <p:cNvSpPr/>
          <p:nvPr/>
        </p:nvSpPr>
        <p:spPr>
          <a:xfrm>
            <a:off x="571500" y="1666875"/>
            <a:ext cx="5238750" cy="4429125"/>
          </a:xfrm>
          <a:prstGeom prst="roundRect">
            <a:avLst>
              <a:gd name="adj" fmla="val 2581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751332" y="1821180"/>
            <a:ext cx="2154083" cy="41071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🌐 BFS 影响范围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55904" y="2251710"/>
            <a:ext cx="274889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FFD54F"/>
                </a:solidFill>
                <a:latin typeface="Consolas"/>
                <a:ea typeface="Consolas"/>
                <a:cs typeface="Consolas"/>
              </a:rPr>
              <a:t>POST /api/analysis/affected-area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56666" y="2706052"/>
            <a:ext cx="227935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std::queue&lt;pair&lt;string,int&gt;&gt; q;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56666" y="2877502"/>
            <a:ext cx="145244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q.push({start, 0});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56666" y="3048952"/>
            <a:ext cx="16150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visited.insert(start);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56666" y="3220402"/>
            <a:ext cx="144538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while (!q.empty()) {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56666" y="3391852"/>
            <a:ext cx="239950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auto [u, d] = q.front(); q.pop();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56666" y="3563302"/>
            <a:ext cx="1431246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if (d == k) continue;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6666" y="3734752"/>
            <a:ext cx="211679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for (e : g.neighbors(u, mgr))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56666" y="3906202"/>
            <a:ext cx="2321757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if (visited.insert(e.to).second)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56666" y="4077652"/>
            <a:ext cx="153019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q.push({e.to, d+1});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56666" y="4249102"/>
            <a:ext cx="8841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54380" y="4314825"/>
            <a:ext cx="2564892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示例：关闭人民广场后 K=2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55904" y="4632960"/>
            <a:ext cx="1878025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→ 影响范围包含相邻 12 站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55142" y="4997768"/>
            <a:ext cx="2856631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复杂度 O(V+E) · 访问 K 阶邻居</a:t>
            </a:r>
          </a:p>
        </p:txBody>
      </p:sp>
      <p:sp>
        <p:nvSpPr>
          <p:cNvPr id="22" name="Rectangle 22"/>
          <p:cNvSpPr/>
          <p:nvPr/>
        </p:nvSpPr>
        <p:spPr>
          <a:xfrm>
            <a:off x="6381750" y="1666875"/>
            <a:ext cx="5238750" cy="4429125"/>
          </a:xfrm>
          <a:prstGeom prst="roundRect">
            <a:avLst>
              <a:gd name="adj" fmla="val 2581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23" name="TextBox 23"/>
          <p:cNvSpPr txBox="1"/>
          <p:nvPr/>
        </p:nvSpPr>
        <p:spPr>
          <a:xfrm>
            <a:off x="6561582" y="1821180"/>
            <a:ext cx="2154083" cy="41071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🔗 DFS 连通分量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6566154" y="2251710"/>
            <a:ext cx="2387422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FFD54F"/>
                </a:solidFill>
                <a:latin typeface="Consolas"/>
                <a:ea typeface="Consolas"/>
                <a:cs typeface="Consolas"/>
              </a:rPr>
              <a:t>GET /api/analysis/components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6566916" y="2706052"/>
            <a:ext cx="2258149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int count_components(g, mgr) {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6566916" y="2877502"/>
            <a:ext cx="80223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int cnt = 0;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566916" y="3048952"/>
            <a:ext cx="147365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for (id : g.all_ids())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566916" y="3220402"/>
            <a:ext cx="2067325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if (open(id) &amp;&amp; !visited[id]) {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6566916" y="3391852"/>
            <a:ext cx="1770488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dfs(id, visited, g, mgr);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6566916" y="3563302"/>
            <a:ext cx="477126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cnt++;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6566916" y="3734752"/>
            <a:ext cx="8841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6566916" y="3906202"/>
            <a:ext cx="83050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return cnt;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6566916" y="4077652"/>
            <a:ext cx="8841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6564630" y="4314825"/>
            <a:ext cx="240811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示例：正常运营 → 分量 = 1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6566154" y="4632960"/>
            <a:ext cx="233842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→ 关闭 4 号线所有站 → 分量 = 2+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6565392" y="4997768"/>
            <a:ext cx="2624762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复杂度 O(V+E) · 检测图分裂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4288688" y="6347460"/>
            <a:ext cx="3614623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91A9C8"/>
                </a:solidFill>
                <a:latin typeface="Arial"/>
                <a:ea typeface="Microsoft YaHei"/>
                <a:cs typeface="Arial"/>
              </a:rPr>
              <a:t>两算法均在 metro_core 中实现，前端可视化调用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/>
  <cp:lastModifiedBy/>
  <cp:revision>1</cp:revision>
  <dcterms:created xsi:type="dcterms:W3CDTF">2026-07-01T04:55:22Z</dcterms:created>
  <dcterms:modified xsi:type="dcterms:W3CDTF">2026-07-01T04:55:22Z</dcterms:modified>
  <cp:category/>
  <cp:contentStatus/>
</cp:coreProperties>
</file>