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3db9ebaf34e91e4f.jp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E4002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42950" y="1832610"/>
            <a:ext cx="894321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上海地铁路径规划与运营管理系统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51332" y="2630805"/>
            <a:ext cx="5620702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C++17 核心 · REST 后端 · Web 可视化前端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3618" y="3250882"/>
            <a:ext cx="404829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东华大学 · 数据结构课程设计 · 2026-07</a:t>
            </a:r>
          </a:p>
        </p:txBody>
      </p:sp>
      <p:sp>
        <p:nvSpPr>
          <p:cNvPr id="7" name="Rectangle 7"/>
          <p:cNvSpPr/>
          <p:nvPr/>
        </p:nvSpPr>
        <p:spPr>
          <a:xfrm>
            <a:off x="952500" y="4381500"/>
            <a:ext cx="19050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31684" y="469201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94485" y="52673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条线路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238500" y="4381500"/>
            <a:ext cx="19050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3661132" y="4692015"/>
            <a:ext cx="105973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530+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79520" y="5267325"/>
            <a:ext cx="8229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个物理站</a:t>
            </a:r>
          </a:p>
        </p:txBody>
      </p:sp>
      <p:sp>
        <p:nvSpPr>
          <p:cNvPr id="13" name="Rectangle 13"/>
          <p:cNvSpPr/>
          <p:nvPr/>
        </p:nvSpPr>
        <p:spPr>
          <a:xfrm>
            <a:off x="5524500" y="4381500"/>
            <a:ext cx="19050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818856" y="4692015"/>
            <a:ext cx="131628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1300+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166485" y="5267325"/>
            <a:ext cx="62103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有向边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810500" y="4381500"/>
            <a:ext cx="19050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489684" y="469201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3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75320" y="5267325"/>
            <a:ext cx="97536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REST 端点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904" y="6347460"/>
            <a:ext cx="62955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1A9C8"/>
                </a:solidFill>
                <a:latin typeface="Arial"/>
                <a:ea typeface="Microsoft YaHei"/>
                <a:cs typeface="Arial"/>
              </a:rPr>
              <a:t>v2.0.0 · 小组答辩版 · github.com/Weishi-corroding/shanghai-metro-pathfinder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18993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项目概览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3618" y="1203008"/>
            <a:ext cx="2937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三大功能模块 · 系统数据规模</a:t>
            </a:r>
          </a:p>
        </p:txBody>
      </p:sp>
      <p:sp>
        <p:nvSpPr>
          <p:cNvPr id="6" name="Rectangle 6"/>
          <p:cNvSpPr/>
          <p:nvPr/>
        </p:nvSpPr>
        <p:spPr>
          <a:xfrm>
            <a:off x="762000" y="1714500"/>
            <a:ext cx="3619500" cy="2476500"/>
          </a:xfrm>
          <a:prstGeom prst="roundRect">
            <a:avLst>
              <a:gd name="adj" fmla="val 461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941832" y="1868805"/>
            <a:ext cx="16242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🗺️ 路径规划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4880" y="2505075"/>
            <a:ext cx="1862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最短时间 / 最少换乘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880" y="2886075"/>
            <a:ext cx="16154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K 优路径（K=3）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44880" y="32670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换乘节点拆分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4880" y="3648075"/>
            <a:ext cx="138209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Dijkstra + Yen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476750" y="1714500"/>
            <a:ext cx="3619500" cy="2476500"/>
          </a:xfrm>
          <a:prstGeom prst="roundRect">
            <a:avLst>
              <a:gd name="adj" fmla="val 461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656582" y="1868805"/>
            <a:ext cx="162425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⚙️ 运营管理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59630" y="2505075"/>
            <a:ext cx="133788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单站关闭/开启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59630" y="2886075"/>
            <a:ext cx="134874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批量 CSV 更新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659630" y="32670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恢复初始状态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659630" y="3648075"/>
            <a:ext cx="1226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闭站路径过滤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714500"/>
            <a:ext cx="3619500" cy="2476500"/>
          </a:xfrm>
          <a:prstGeom prst="roundRect">
            <a:avLst>
              <a:gd name="adj" fmla="val 461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371332" y="1868805"/>
            <a:ext cx="1460996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📊 网络分析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4380" y="2505075"/>
            <a:ext cx="12847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BFS 影响范围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74380" y="2886075"/>
            <a:ext cx="12847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DFS 连通分量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4380" y="3267075"/>
            <a:ext cx="8366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K 阶邻居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74380" y="3648075"/>
            <a:ext cx="14287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分量数变化检测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1229975" y="4932045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1110" y="5442585"/>
            <a:ext cx="3352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线路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428875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2900766" y="4932045"/>
            <a:ext cx="77071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530+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037713" y="54425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物理站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286250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31" name="TextBox 31"/>
          <p:cNvSpPr txBox="1"/>
          <p:nvPr/>
        </p:nvSpPr>
        <p:spPr>
          <a:xfrm>
            <a:off x="4758141" y="4932045"/>
            <a:ext cx="77071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800+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895088" y="54425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图节点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143625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6522225" y="4932045"/>
            <a:ext cx="95730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1300+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52463" y="54425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有向边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001000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566183" y="4932045"/>
            <a:ext cx="58413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278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609838" y="54425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换乘边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858375" y="4667250"/>
            <a:ext cx="1714500" cy="1238250"/>
          </a:xfrm>
          <a:prstGeom prst="roundRect">
            <a:avLst>
              <a:gd name="adj" fmla="val 615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0516850" y="4932045"/>
            <a:ext cx="39755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240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0386441" y="5442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测试通过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5904" y="6442710"/>
            <a:ext cx="25383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91A9C8"/>
                </a:solidFill>
                <a:latin typeface="Arial"/>
                <a:ea typeface="Microsoft YaHei"/>
                <a:cs typeface="Arial"/>
              </a:rPr>
              <a:t>~3,100 行 C++17 · 无第三方图库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430162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数据集建设 &amp; 图建模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142" y="1187768"/>
            <a:ext cx="33758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对应课设：数据集 10 + 图拓扑 10 = 20 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666875"/>
            <a:ext cx="32385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3618" y="1822132"/>
            <a:ext cx="86589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① Fetch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904" y="2204085"/>
            <a:ext cx="15791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python fetch_all.py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904" y="2442210"/>
            <a:ext cx="15082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Shanghai Metro API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666" y="2696528"/>
            <a:ext cx="1810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→ metro_data/line-XX.csv</a:t>
            </a:r>
          </a:p>
        </p:txBody>
      </p:sp>
      <p:sp>
        <p:nvSpPr>
          <p:cNvPr id="11" name="Rectangle 11"/>
          <p:cNvSpPr/>
          <p:nvPr/>
        </p:nvSpPr>
        <p:spPr>
          <a:xfrm>
            <a:off x="4381500" y="1666875"/>
            <a:ext cx="32385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4563618" y="1822132"/>
            <a:ext cx="74795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② Build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65904" y="2204085"/>
            <a:ext cx="158599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build_dataset (C++)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5904" y="2442210"/>
            <a:ext cx="216072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换乘拆分 · 边填补 · 环线去伪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6666" y="2696528"/>
            <a:ext cx="17039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→ Station.csv, Edge.csv</a:t>
            </a:r>
          </a:p>
        </p:txBody>
      </p:sp>
      <p:sp>
        <p:nvSpPr>
          <p:cNvPr id="16" name="Rectangle 16"/>
          <p:cNvSpPr/>
          <p:nvPr/>
        </p:nvSpPr>
        <p:spPr>
          <a:xfrm>
            <a:off x="8191500" y="1666875"/>
            <a:ext cx="3238500" cy="1238250"/>
          </a:xfrm>
          <a:prstGeom prst="roundRect">
            <a:avLst>
              <a:gd name="adj" fmla="val 769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8373618" y="1822132"/>
            <a:ext cx="120197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③ Visualize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75904" y="2204085"/>
            <a:ext cx="20153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fetch_station_coords.py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75904" y="2442210"/>
            <a:ext cx="153723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OSM Overpass 投影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6666" y="2696528"/>
            <a:ext cx="9153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→ layout.json</a:t>
            </a:r>
          </a:p>
        </p:txBody>
      </p:sp>
      <p:sp>
        <p:nvSpPr>
          <p:cNvPr id="21" name="Line 21"/>
          <p:cNvSpPr/>
          <p:nvPr/>
        </p:nvSpPr>
        <p:spPr>
          <a:xfrm>
            <a:off x="3810000" y="2286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4333875" y="22193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E4002B"/>
          </a:solidFill>
          <a:ln>
            <a:noFill/>
          </a:ln>
        </p:spPr>
      </p:sp>
      <p:sp>
        <p:nvSpPr>
          <p:cNvPr id="23" name="Line 23"/>
          <p:cNvSpPr/>
          <p:nvPr/>
        </p:nvSpPr>
        <p:spPr>
          <a:xfrm>
            <a:off x="7620000" y="2286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24" name="Polygon 24"/>
          <p:cNvSpPr/>
          <p:nvPr/>
        </p:nvSpPr>
        <p:spPr>
          <a:xfrm>
            <a:off x="8143875" y="2219325"/>
            <a:ext cx="95250" cy="133350"/>
          </a:xfrm>
          <a:custGeom>
            <a:avLst/>
            <a:gdLst/>
            <a:ahLst/>
            <a:cxnLst/>
            <a:rect l="l" t="t" r="r" b="b"/>
            <a:pathLst>
              <a:path w="95250" h="133350">
                <a:moveTo>
                  <a:pt x="0" y="0"/>
                </a:moveTo>
                <a:lnTo>
                  <a:pt x="95250" y="66675"/>
                </a:lnTo>
                <a:lnTo>
                  <a:pt x="0" y="133350"/>
                </a:lnTo>
                <a:close/>
              </a:path>
            </a:pathLst>
          </a:custGeom>
          <a:solidFill>
            <a:srgbClr val="E4002B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429000"/>
            <a:ext cx="4762500" cy="2190750"/>
          </a:xfrm>
          <a:prstGeom prst="roundRect">
            <a:avLst>
              <a:gd name="adj" fmla="val 434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753618" y="3584258"/>
            <a:ext cx="328197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换乘节点拆分（例：人民广场）</a:t>
            </a:r>
          </a:p>
        </p:txBody>
      </p:sp>
      <p:sp>
        <p:nvSpPr>
          <p:cNvPr id="27" name="Ellipse 27"/>
          <p:cNvSpPr/>
          <p:nvPr/>
        </p:nvSpPr>
        <p:spPr>
          <a:xfrm>
            <a:off x="1257300" y="4257675"/>
            <a:ext cx="533400" cy="533400"/>
          </a:xfrm>
          <a:prstGeom prst="ellipse">
            <a:avLst/>
          </a:prstGeom>
          <a:solidFill>
            <a:srgbClr val="E4002B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331321" y="4471035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0113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338443" y="4934902"/>
            <a:ext cx="3711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1号线</a:t>
            </a:r>
          </a:p>
        </p:txBody>
      </p:sp>
      <p:sp>
        <p:nvSpPr>
          <p:cNvPr id="30" name="Ellipse 30"/>
          <p:cNvSpPr/>
          <p:nvPr/>
        </p:nvSpPr>
        <p:spPr>
          <a:xfrm>
            <a:off x="2686050" y="4257675"/>
            <a:ext cx="533400" cy="533400"/>
          </a:xfrm>
          <a:prstGeom prst="ellipse">
            <a:avLst/>
          </a:prstGeom>
          <a:solidFill>
            <a:srgbClr val="97D70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2760071" y="4471035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0213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767193" y="4934902"/>
            <a:ext cx="3711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2号线</a:t>
            </a:r>
          </a:p>
        </p:txBody>
      </p:sp>
      <p:sp>
        <p:nvSpPr>
          <p:cNvPr id="33" name="Ellipse 33"/>
          <p:cNvSpPr/>
          <p:nvPr/>
        </p:nvSpPr>
        <p:spPr>
          <a:xfrm>
            <a:off x="4114800" y="4257675"/>
            <a:ext cx="533400" cy="533400"/>
          </a:xfrm>
          <a:prstGeom prst="ellipse">
            <a:avLst/>
          </a:prstGeom>
          <a:solidFill>
            <a:srgbClr val="001E6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188821" y="4471035"/>
            <a:ext cx="38535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0816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95943" y="4934902"/>
            <a:ext cx="3711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8号线</a:t>
            </a:r>
          </a:p>
        </p:txBody>
      </p:sp>
      <p:sp>
        <p:nvSpPr>
          <p:cNvPr id="36" name="Line 36"/>
          <p:cNvSpPr/>
          <p:nvPr/>
        </p:nvSpPr>
        <p:spPr>
          <a:xfrm>
            <a:off x="1790700" y="452437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19050" cap="rnd">
            <a:solidFill>
              <a:srgbClr val="B7C7DE"/>
            </a:solidFill>
            <a:custDash>
              <a:ds d="300000" sp="200000"/>
            </a:custDash>
          </a:ln>
        </p:spPr>
      </p:sp>
      <p:sp>
        <p:nvSpPr>
          <p:cNvPr id="37" name="Line 37"/>
          <p:cNvSpPr/>
          <p:nvPr/>
        </p:nvSpPr>
        <p:spPr>
          <a:xfrm>
            <a:off x="3219450" y="4524375"/>
            <a:ext cx="895350" cy="9525"/>
          </a:xfrm>
          <a:custGeom>
            <a:avLst/>
            <a:gdLst/>
            <a:ahLst/>
            <a:cxnLst/>
            <a:rect l="l" t="t" r="r" b="b"/>
            <a:pathLst>
              <a:path w="895350" h="9525">
                <a:moveTo>
                  <a:pt x="0" y="0"/>
                </a:moveTo>
                <a:lnTo>
                  <a:pt x="895350" y="0"/>
                </a:lnTo>
              </a:path>
            </a:pathLst>
          </a:custGeom>
          <a:noFill/>
          <a:ln w="19050" cap="rnd">
            <a:solidFill>
              <a:srgbClr val="B7C7DE"/>
            </a:solidFill>
            <a:custDash>
              <a:ds d="300000" sp="200000"/>
            </a:custDash>
          </a:ln>
        </p:spPr>
      </p:sp>
      <p:sp>
        <p:nvSpPr>
          <p:cNvPr id="38" name="Freeform 38"/>
          <p:cNvSpPr/>
          <p:nvPr/>
        </p:nvSpPr>
        <p:spPr>
          <a:xfrm>
            <a:off x="1524000" y="3990975"/>
            <a:ext cx="2857500" cy="266700"/>
          </a:xfrm>
          <a:custGeom>
            <a:avLst/>
            <a:gdLst/>
            <a:ahLst/>
            <a:cxnLst/>
            <a:rect l="l" t="t" r="r" b="b"/>
            <a:pathLst>
              <a:path w="2857500" h="266700">
                <a:moveTo>
                  <a:pt x="0" y="266700"/>
                </a:moveTo>
                <a:cubicBezTo>
                  <a:pt x="952500" y="0"/>
                  <a:pt x="1905000" y="0"/>
                  <a:pt x="2857500" y="266700"/>
                </a:cubicBezTo>
              </a:path>
            </a:pathLst>
          </a:custGeom>
          <a:noFill/>
          <a:ln w="19050">
            <a:solidFill>
              <a:srgbClr val="B7C7DE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668248" y="3963352"/>
            <a:ext cx="5690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换乘 t=5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56666" y="5315902"/>
            <a:ext cx="404623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同名站按线路拆成 3 节点 · 换乘边双向 · 边权=5min · line=换乘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0" y="3429000"/>
            <a:ext cx="5905500" cy="2190750"/>
          </a:xfrm>
          <a:prstGeom prst="roundRect">
            <a:avLst>
              <a:gd name="adj" fmla="val 434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5897118" y="3584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特殊处理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898642" y="3950018"/>
            <a:ext cx="391961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4 号线环状：内圈/外圈方向标记（Line4Dir）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98642" y="4254818"/>
            <a:ext cx="362616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5/10/11 支线：3min 默认补边填补 Y 分叉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898642" y="4559618"/>
            <a:ext cx="39574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remove_loop_closure_edges() 移除环线伪边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898642" y="4864418"/>
            <a:ext cx="368667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UTF-8 BOM：utf-8-sig，中文 Excel 兼容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898642" y="5169218"/>
            <a:ext cx="332205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StationManager 拆分同名站为独立 ID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849675" y="6124575"/>
            <a:ext cx="64926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530 物理站 → 800+ 图节点 · 1044 边段 → 1300+ 有向边 · 278 换乘边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18993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路径算法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142" y="1187768"/>
            <a:ext cx="21400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对应课设：路径算法 15 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666875"/>
            <a:ext cx="2667000" cy="1762125"/>
          </a:xfrm>
          <a:prstGeom prst="roundRect">
            <a:avLst>
              <a:gd name="adj" fmla="val 540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05993" y="1822132"/>
            <a:ext cx="203672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Dijkstra Shortest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08279" y="2251710"/>
            <a:ext cx="13600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Consolas"/>
                <a:ea typeface="Microsoft YaHei"/>
                <a:cs typeface="Consolas"/>
              </a:rPr>
              <a:t>权重: TimeWeight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09041" y="2553652"/>
            <a:ext cx="183409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min-heap: std::greater&lt;&gt;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8279" y="2918460"/>
            <a:ext cx="14418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用途: 单源最短时间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429000" y="1666875"/>
            <a:ext cx="2667000" cy="1762125"/>
          </a:xfrm>
          <a:prstGeom prst="roundRect">
            <a:avLst>
              <a:gd name="adj" fmla="val 540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563493" y="1822132"/>
            <a:ext cx="177890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Yen K-Shortest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5779" y="2251710"/>
            <a:ext cx="127223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Consolas"/>
                <a:ea typeface="Microsoft YaHei"/>
                <a:cs typeface="Consolas"/>
              </a:rPr>
              <a:t>算法: spur-path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566541" y="2553652"/>
            <a:ext cx="3467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K = 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65779" y="2918460"/>
            <a:ext cx="1656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用途: Top-K 最短路径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286500" y="1666875"/>
            <a:ext cx="2667000" cy="1762125"/>
          </a:xfrm>
          <a:prstGeom prst="roundRect">
            <a:avLst>
              <a:gd name="adj" fmla="val 540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420993" y="1822132"/>
            <a:ext cx="19744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Dijkstra Min Xfer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23279" y="2251710"/>
            <a:ext cx="193456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Consolas"/>
                <a:ea typeface="Microsoft YaHei"/>
                <a:cs typeface="Consolas"/>
              </a:rPr>
              <a:t>权重: (transfers, time)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24041" y="255365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DDEBFF"/>
                </a:solidFill>
                <a:latin typeface="Consolas"/>
                <a:ea typeface="Microsoft YaHei"/>
                <a:cs typeface="Consolas"/>
              </a:rPr>
              <a:t>字典序比较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423279" y="2918460"/>
            <a:ext cx="11187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用途: 最少换乘</a:t>
            </a:r>
          </a:p>
        </p:txBody>
      </p:sp>
      <p:sp>
        <p:nvSpPr>
          <p:cNvPr id="21" name="Rectangle 21"/>
          <p:cNvSpPr/>
          <p:nvPr/>
        </p:nvSpPr>
        <p:spPr>
          <a:xfrm>
            <a:off x="9144000" y="1666875"/>
            <a:ext cx="2667000" cy="1762125"/>
          </a:xfrm>
          <a:prstGeom prst="roundRect">
            <a:avLst>
              <a:gd name="adj" fmla="val 540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2" name="TextBox 22"/>
          <p:cNvSpPr txBox="1"/>
          <p:nvPr/>
        </p:nvSpPr>
        <p:spPr>
          <a:xfrm>
            <a:off x="9278493" y="1822132"/>
            <a:ext cx="1718677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Yen K-Min Xfer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80779" y="2251710"/>
            <a:ext cx="171718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Yen + TransferWeight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1541" y="2553652"/>
            <a:ext cx="34671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K =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280779" y="2918460"/>
            <a:ext cx="165674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用途: Top-K 最少换乘</a:t>
            </a:r>
          </a:p>
        </p:txBody>
      </p:sp>
      <p:sp>
        <p:nvSpPr>
          <p:cNvPr id="26" name="Rectangle 26"/>
          <p:cNvSpPr/>
          <p:nvPr/>
        </p:nvSpPr>
        <p:spPr>
          <a:xfrm>
            <a:off x="571500" y="3714750"/>
            <a:ext cx="5905500" cy="2381250"/>
          </a:xfrm>
          <a:prstGeom prst="roundRect">
            <a:avLst>
              <a:gd name="adj" fmla="val 4000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753618" y="3822382"/>
            <a:ext cx="26474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Dijkstra 主循环（简化）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56285" y="4069556"/>
            <a:ext cx="29326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pq: priority_queue&lt;Weight&gt; (min-heap)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56285" y="4279106"/>
            <a:ext cx="155619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pq.push({start, 0})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56285" y="4488656"/>
            <a:ext cx="114728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dist[start] = 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6285" y="4698206"/>
            <a:ext cx="163191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while (!pq.empty()) {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56285" y="4907756"/>
            <a:ext cx="265418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auto [u, du] = pq.top(); pq.pop();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285" y="5117306"/>
            <a:ext cx="186666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if (visited[u]) continue;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6285" y="5326856"/>
            <a:ext cx="135931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visited[u] = true;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56285" y="5536406"/>
            <a:ext cx="2646616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for (edge : g.neighbors(u, mgr)) {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6285" y="5745956"/>
            <a:ext cx="27590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Weight nw = du + edge_weight(edge);</a:t>
            </a:r>
          </a:p>
        </p:txBody>
      </p:sp>
      <p:sp>
        <p:nvSpPr>
          <p:cNvPr id="37" name="Rectangle 37"/>
          <p:cNvSpPr/>
          <p:nvPr/>
        </p:nvSpPr>
        <p:spPr>
          <a:xfrm>
            <a:off x="6667500" y="3714750"/>
            <a:ext cx="5334000" cy="2381250"/>
          </a:xfrm>
          <a:prstGeom prst="roundRect">
            <a:avLst>
              <a:gd name="adj" fmla="val 4000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6849618" y="3822382"/>
            <a:ext cx="388836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换乘计数三规则（v1.0.0 核心修复）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851904" y="4232910"/>
            <a:ext cx="42365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① 起点上第一条线不算换乘（line_trace 不预置起点线路）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851904" y="4499610"/>
            <a:ext cx="38441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② 沿途换乘计一次（新线路 ID 不等于当前线路 ID）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6851904" y="4766310"/>
            <a:ext cx="414771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③ 终点前最后一段换乘边不算换乘（i+1==size 特殊处理）</a:t>
            </a:r>
          </a:p>
        </p:txBody>
      </p:sp>
      <p:sp>
        <p:nvSpPr>
          <p:cNvPr id="42" name="Line 42"/>
          <p:cNvSpPr/>
          <p:nvPr/>
        </p:nvSpPr>
        <p:spPr>
          <a:xfrm>
            <a:off x="6858000" y="5143500"/>
            <a:ext cx="4953000" cy="9525"/>
          </a:xfrm>
          <a:custGeom>
            <a:avLst/>
            <a:gdLst/>
            <a:ahLst/>
            <a:cxnLst/>
            <a:rect l="l" t="t" r="r" b="b"/>
            <a:pathLst>
              <a:path w="4953000" h="9525">
                <a:moveTo>
                  <a:pt x="0" y="0"/>
                </a:moveTo>
                <a:lnTo>
                  <a:pt x="4953000" y="0"/>
                </a:lnTo>
              </a:path>
            </a:pathLst>
          </a:custGeom>
          <a:noFill/>
          <a:ln w="9525" cap="rnd">
            <a:solidFill>
              <a:srgbClr val="1E3A5F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6849618" y="523208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示例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852285" y="5555456"/>
            <a:ext cx="266933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莘庄→陆家嘴 1 换乘（1 号线 → 2 号线）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852285" y="5784056"/>
            <a:ext cx="28662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人民广场→陆家嘴 0 换乘（直接乘 2 号线）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363141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运营管理（M2）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142" y="1187768"/>
            <a:ext cx="214003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对应课设：运营管理 15 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666875"/>
            <a:ext cx="3619500" cy="1952625"/>
          </a:xfrm>
          <a:prstGeom prst="roundRect">
            <a:avLst>
              <a:gd name="adj" fmla="val 487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2856" y="1853565"/>
            <a:ext cx="190108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🔒 单站关闭/开启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6285" y="2355056"/>
            <a:ext cx="229122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POST /api/stations/&lt;id&gt;/close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285" y="2659856"/>
            <a:ext cx="224640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POST /api/stations/&lt;id&gt;/open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904" y="2956560"/>
            <a:ext cx="255279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→ StationManager.set_status()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904" y="3261360"/>
            <a:ext cx="15953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锁: unique_lock (写)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4381500" y="1666875"/>
            <a:ext cx="3619500" cy="1952625"/>
          </a:xfrm>
          <a:prstGeom prst="roundRect">
            <a:avLst>
              <a:gd name="adj" fmla="val 487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4562856" y="1853565"/>
            <a:ext cx="19270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📦 批量 CSV 更新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66285" y="2355056"/>
            <a:ext cx="25320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POST /api/stations/batch-update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65904" y="2651760"/>
            <a:ext cx="20557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multipart/form-data 上传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65904" y="2956560"/>
            <a:ext cx="256458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处理 update_station_status.csv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65904" y="326136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返回逐行诊断报告</a:t>
            </a:r>
          </a:p>
        </p:txBody>
      </p:sp>
      <p:sp>
        <p:nvSpPr>
          <p:cNvPr id="18" name="Rectangle 18"/>
          <p:cNvSpPr/>
          <p:nvPr/>
        </p:nvSpPr>
        <p:spPr>
          <a:xfrm>
            <a:off x="8191500" y="1666875"/>
            <a:ext cx="3619500" cy="1952625"/>
          </a:xfrm>
          <a:prstGeom prst="roundRect">
            <a:avLst>
              <a:gd name="adj" fmla="val 487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8372856" y="1853565"/>
            <a:ext cx="1392220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↩️ 恢复初始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376285" y="2355056"/>
            <a:ext cx="21152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POST /api/stations/restore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375904" y="2651760"/>
            <a:ext cx="18288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→ Station_init.csv 快照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75904" y="2956560"/>
            <a:ext cx="1942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build_dataset 生成时留存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75904" y="3261360"/>
            <a:ext cx="981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一键完全复原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810000"/>
            <a:ext cx="7429500" cy="1905000"/>
          </a:xfrm>
          <a:prstGeom prst="roundRect">
            <a:avLst>
              <a:gd name="adj" fmla="val 5000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753618" y="3917632"/>
            <a:ext cx="489925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闭站路径过滤（Graph::neighbors 内部逻辑）</a:t>
            </a:r>
          </a:p>
        </p:txBody>
      </p:sp>
      <p:sp>
        <p:nvSpPr>
          <p:cNvPr id="26" name="Line 26"/>
          <p:cNvSpPr/>
          <p:nvPr/>
        </p:nvSpPr>
        <p:spPr>
          <a:xfrm>
            <a:off x="1714500" y="4857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0" y="0"/>
                </a:moveTo>
                <a:lnTo>
                  <a:pt x="2095500" y="0"/>
                </a:lnTo>
              </a:path>
            </a:pathLst>
          </a:custGeom>
          <a:noFill/>
          <a:ln w="19050" cap="rnd">
            <a:solidFill>
              <a:srgbClr val="4A6280"/>
            </a:solidFill>
          </a:ln>
        </p:spPr>
      </p:sp>
      <p:sp>
        <p:nvSpPr>
          <p:cNvPr id="27" name="Line 27"/>
          <p:cNvSpPr/>
          <p:nvPr/>
        </p:nvSpPr>
        <p:spPr>
          <a:xfrm>
            <a:off x="2667000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19050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28" name="Line 28"/>
          <p:cNvSpPr/>
          <p:nvPr/>
        </p:nvSpPr>
        <p:spPr>
          <a:xfrm>
            <a:off x="2667000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90500"/>
                </a:moveTo>
                <a:lnTo>
                  <a:pt x="1905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29" name="Freeform 29"/>
          <p:cNvSpPr/>
          <p:nvPr/>
        </p:nvSpPr>
        <p:spPr>
          <a:xfrm>
            <a:off x="1714500" y="4476750"/>
            <a:ext cx="4191000" cy="381000"/>
          </a:xfrm>
          <a:custGeom>
            <a:avLst/>
            <a:gdLst/>
            <a:ahLst/>
            <a:cxnLst/>
            <a:rect l="l" t="t" r="r" b="b"/>
            <a:pathLst>
              <a:path w="4191000" h="381000">
                <a:moveTo>
                  <a:pt x="0" y="381000"/>
                </a:moveTo>
                <a:cubicBezTo>
                  <a:pt x="1397000" y="0"/>
                  <a:pt x="2794000" y="0"/>
                  <a:pt x="4191000" y="381000"/>
                </a:cubicBezTo>
              </a:path>
            </a:pathLst>
          </a:custGeom>
          <a:noFill/>
          <a:ln w="28575">
            <a:solidFill>
              <a:srgbClr val="97D700"/>
            </a:solidFill>
          </a:ln>
        </p:spPr>
      </p:sp>
      <p:sp>
        <p:nvSpPr>
          <p:cNvPr id="30" name="Line 30"/>
          <p:cNvSpPr/>
          <p:nvPr/>
        </p:nvSpPr>
        <p:spPr>
          <a:xfrm>
            <a:off x="3810000" y="4857750"/>
            <a:ext cx="2095500" cy="9525"/>
          </a:xfrm>
          <a:custGeom>
            <a:avLst/>
            <a:gdLst/>
            <a:ahLst/>
            <a:cxnLst/>
            <a:rect l="l" t="t" r="r" b="b"/>
            <a:pathLst>
              <a:path w="2095500" h="9525">
                <a:moveTo>
                  <a:pt x="2095500" y="0"/>
                </a:moveTo>
                <a:lnTo>
                  <a:pt x="0" y="0"/>
                </a:lnTo>
              </a:path>
            </a:pathLst>
          </a:custGeom>
          <a:noFill/>
          <a:ln w="19050" cap="rnd">
            <a:solidFill>
              <a:srgbClr val="4A6280"/>
            </a:solidFill>
          </a:ln>
        </p:spPr>
      </p:sp>
      <p:sp>
        <p:nvSpPr>
          <p:cNvPr id="31" name="Line 31"/>
          <p:cNvSpPr/>
          <p:nvPr/>
        </p:nvSpPr>
        <p:spPr>
          <a:xfrm>
            <a:off x="4762500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0"/>
                </a:moveTo>
                <a:lnTo>
                  <a:pt x="190500" y="19050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32" name="Line 32"/>
          <p:cNvSpPr/>
          <p:nvPr/>
        </p:nvSpPr>
        <p:spPr>
          <a:xfrm>
            <a:off x="4762500" y="47625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190500"/>
                </a:moveTo>
                <a:lnTo>
                  <a:pt x="1905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33" name="Ellipse 33"/>
          <p:cNvSpPr/>
          <p:nvPr/>
        </p:nvSpPr>
        <p:spPr>
          <a:xfrm>
            <a:off x="1409700" y="4552950"/>
            <a:ext cx="609600" cy="609600"/>
          </a:xfrm>
          <a:prstGeom prst="ellipse">
            <a:avLst/>
          </a:prstGeom>
          <a:solidFill>
            <a:srgbClr val="97D700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1638350" y="474630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55788" y="53159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起点（开）</a:t>
            </a:r>
          </a:p>
        </p:txBody>
      </p:sp>
      <p:sp>
        <p:nvSpPr>
          <p:cNvPr id="36" name="Ellipse 36"/>
          <p:cNvSpPr/>
          <p:nvPr/>
        </p:nvSpPr>
        <p:spPr>
          <a:xfrm>
            <a:off x="3505200" y="4552950"/>
            <a:ext cx="609600" cy="609600"/>
          </a:xfrm>
          <a:prstGeom prst="ellipse">
            <a:avLst/>
          </a:prstGeom>
          <a:solidFill>
            <a:srgbClr val="3A0F14"/>
          </a:solidFill>
          <a:ln w="28575">
            <a:solidFill>
              <a:srgbClr val="E4002B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3733850" y="474630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E4002B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663315" y="5315902"/>
            <a:ext cx="2933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4002B"/>
                </a:solidFill>
                <a:latin typeface="Arial"/>
                <a:ea typeface="Microsoft YaHei"/>
                <a:cs typeface="Arial"/>
              </a:rPr>
              <a:t>闭站</a:t>
            </a:r>
          </a:p>
        </p:txBody>
      </p:sp>
      <p:sp>
        <p:nvSpPr>
          <p:cNvPr id="39" name="Ellipse 39"/>
          <p:cNvSpPr/>
          <p:nvPr/>
        </p:nvSpPr>
        <p:spPr>
          <a:xfrm>
            <a:off x="5600700" y="4552950"/>
            <a:ext cx="609600" cy="609600"/>
          </a:xfrm>
          <a:prstGeom prst="ellipse">
            <a:avLst/>
          </a:prstGeom>
          <a:solidFill>
            <a:srgbClr val="97D70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829350" y="4746308"/>
            <a:ext cx="15230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65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546788" y="5315902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邻站（开）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851904" y="4632960"/>
            <a:ext cx="88142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002B"/>
                </a:solidFill>
                <a:latin typeface="Arial"/>
                <a:ea typeface="Microsoft YaHei"/>
                <a:cs typeface="Arial"/>
              </a:rPr>
              <a:t>闭站节点 B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851904" y="484251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4002B"/>
                </a:solidFill>
                <a:latin typeface="Arial"/>
                <a:ea typeface="Microsoft YaHei"/>
                <a:cs typeface="Arial"/>
              </a:rPr>
              <a:t>被过滤</a:t>
            </a:r>
          </a:p>
        </p:txBody>
      </p:sp>
      <p:sp>
        <p:nvSpPr>
          <p:cNvPr id="44" name="Rectangle 44"/>
          <p:cNvSpPr/>
          <p:nvPr/>
        </p:nvSpPr>
        <p:spPr>
          <a:xfrm>
            <a:off x="8382000" y="3810000"/>
            <a:ext cx="3238500" cy="1905000"/>
          </a:xfrm>
          <a:prstGeom prst="roundRect">
            <a:avLst>
              <a:gd name="adj" fmla="val 5000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564880" y="3933825"/>
            <a:ext cx="117714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Web 管理 UI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572500" y="4238625"/>
            <a:ext cx="2857500" cy="1333500"/>
          </a:xfrm>
          <a:prstGeom prst="rect">
            <a:avLst/>
          </a:prstGeom>
          <a:solidFill>
            <a:srgbClr val="0F2A45"/>
          </a:solidFill>
          <a:ln w="9525">
            <a:solidFill>
              <a:srgbClr val="1E3A5F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8572500" y="4238625"/>
            <a:ext cx="2857500" cy="1333500"/>
          </a:xfrm>
          <a:prstGeom prst="rect">
            <a:avLst/>
          </a:prstGeom>
          <a:noFill/>
          <a:ln w="14288">
            <a:solidFill>
              <a:srgbClr val="1E3A5F"/>
            </a:solidFill>
            <a:custDash>
              <a:ds d="400000" sp="266666"/>
            </a:custDash>
          </a:ln>
        </p:spPr>
      </p:sp>
      <p:sp>
        <p:nvSpPr>
          <p:cNvPr id="48" name="TextBox 48"/>
          <p:cNvSpPr txBox="1"/>
          <p:nvPr/>
        </p:nvSpPr>
        <p:spPr>
          <a:xfrm>
            <a:off x="8931783" y="4839652"/>
            <a:ext cx="21389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线路筛选 + 状态切换 + CSV 上传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4642" y="6236018"/>
            <a:ext cx="182199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批量更新 41 站 &lt;10ms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55642" y="6236018"/>
            <a:ext cx="164934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受影响路径实时重算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65642" y="6236018"/>
            <a:ext cx="233995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线程安全（shared_mutex）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55904" y="5756910"/>
            <a:ext cx="40023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但换乘边永不封锁 —— 换乘节点属同一物理站的不同平台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1899361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网络分析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142" y="1187768"/>
            <a:ext cx="204008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对应课设：网络分析 5 分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666875"/>
            <a:ext cx="5238750" cy="4429125"/>
          </a:xfrm>
          <a:prstGeom prst="roundRect">
            <a:avLst>
              <a:gd name="adj" fmla="val 2581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1332" y="1821180"/>
            <a:ext cx="215408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🌐 BFS 影响范围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904" y="2251710"/>
            <a:ext cx="27488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POST /api/analysis/affected-area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6666" y="2706052"/>
            <a:ext cx="22793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std::queue&lt;pair&lt;string,int&gt;&gt; q;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6666" y="2877502"/>
            <a:ext cx="14524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q.push({start, 0});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6666" y="3048952"/>
            <a:ext cx="161500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visited.insert(start);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3220402"/>
            <a:ext cx="144538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while (!q.empty()) {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3391852"/>
            <a:ext cx="239950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auto [u, d] = q.front(); q.pop();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6666" y="3563302"/>
            <a:ext cx="143124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if (d == k) continue;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6666" y="3734752"/>
            <a:ext cx="21167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for (e : g.neighbors(u, mgr))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6666" y="3906202"/>
            <a:ext cx="232175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if (visited.insert(e.to).second)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6666" y="4077652"/>
            <a:ext cx="153019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q.push({e.to, d+1});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6666" y="424910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4380" y="4314825"/>
            <a:ext cx="256489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示例：关闭人民广场后 K=2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55904" y="4632960"/>
            <a:ext cx="187802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→ 影响范围包含相邻 12 站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5142" y="4997768"/>
            <a:ext cx="28566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复杂度 O(V+E) · 访问 K 阶邻居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81750" y="1666875"/>
            <a:ext cx="5238750" cy="4429125"/>
          </a:xfrm>
          <a:prstGeom prst="roundRect">
            <a:avLst>
              <a:gd name="adj" fmla="val 2581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6561582" y="1821180"/>
            <a:ext cx="215408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🔗 DFS 连通分量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566154" y="2251710"/>
            <a:ext cx="23874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GET /api/analysis/components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66916" y="2706052"/>
            <a:ext cx="22581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int count_components(g, mgr) {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66916" y="2877502"/>
            <a:ext cx="8022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int cnt = 0;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566916" y="3048952"/>
            <a:ext cx="14736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for (id : g.all_ids())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566916" y="3220402"/>
            <a:ext cx="20673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if (open(id) &amp;&amp; !visited[id]) {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566916" y="3391852"/>
            <a:ext cx="17704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dfs(id, visited, g, mgr);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566916" y="3563302"/>
            <a:ext cx="47712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cnt++;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566916" y="37347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566916" y="3906202"/>
            <a:ext cx="83050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return cnt;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566916" y="40776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DDEB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64630" y="4314825"/>
            <a:ext cx="240811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示例：正常运营 → 分量 = 1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566154" y="4632960"/>
            <a:ext cx="233842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→ 关闭 4 号线所有站 → 分量 = 2+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565392" y="4997768"/>
            <a:ext cx="262476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复杂度 O(V+E) · 检测图分裂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288688" y="6347460"/>
            <a:ext cx="361462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91A9C8"/>
                </a:solidFill>
                <a:latin typeface="Arial"/>
                <a:ea typeface="Microsoft YaHei"/>
                <a:cs typeface="Arial"/>
              </a:rPr>
              <a:t>两算法均在 metro_core 中实现，前端可视化调用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2832278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可视化与工程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55142" y="1187768"/>
            <a:ext cx="258529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对应课设：可视化 · 端到端集成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666875"/>
            <a:ext cx="11049000" cy="1857375"/>
          </a:xfrm>
          <a:prstGeom prst="roundRect">
            <a:avLst>
              <a:gd name="adj" fmla="val 5128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753618" y="177450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系统分层</a:t>
            </a:r>
          </a:p>
        </p:txBody>
      </p:sp>
      <p:sp>
        <p:nvSpPr>
          <p:cNvPr id="8" name="Rectangle 8"/>
          <p:cNvSpPr/>
          <p:nvPr/>
        </p:nvSpPr>
        <p:spPr>
          <a:xfrm>
            <a:off x="1619250" y="2238375"/>
            <a:ext cx="8572500" cy="304800"/>
          </a:xfrm>
          <a:prstGeom prst="roundRect">
            <a:avLst>
              <a:gd name="adj" fmla="val 12500"/>
            </a:avLst>
          </a:prstGeom>
          <a:solidFill>
            <a:srgbClr val="2A4A7A"/>
          </a:solidFill>
          <a:ln w="9525">
            <a:solidFill>
              <a:srgbClr val="1E3A5F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756029" y="2318385"/>
            <a:ext cx="34512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Browser (index.html + app.js + tailwind.js)</a:t>
            </a:r>
          </a:p>
        </p:txBody>
      </p:sp>
      <p:sp>
        <p:nvSpPr>
          <p:cNvPr id="10" name="Rectangle 10"/>
          <p:cNvSpPr/>
          <p:nvPr/>
        </p:nvSpPr>
        <p:spPr>
          <a:xfrm>
            <a:off x="1619250" y="2619375"/>
            <a:ext cx="8572500" cy="30480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ln w="9525">
            <a:solidFill>
              <a:srgbClr val="1E3A5F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756029" y="2699385"/>
            <a:ext cx="42123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metro_server (cpp-httplib + nlohmann/json, 18 端点)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619250" y="3000375"/>
            <a:ext cx="8572500" cy="304800"/>
          </a:xfrm>
          <a:prstGeom prst="roundRect">
            <a:avLst>
              <a:gd name="adj" fmla="val 12500"/>
            </a:avLst>
          </a:prstGeom>
          <a:solidFill>
            <a:srgbClr val="152D4A"/>
          </a:solidFill>
          <a:ln w="9525">
            <a:solidFill>
              <a:srgbClr val="1E3A5F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1756029" y="3080385"/>
            <a:ext cx="552164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metro_core static lib (Graph, StationManager, pathfinder, analysis)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619250" y="3381375"/>
            <a:ext cx="8572500" cy="304800"/>
          </a:xfrm>
          <a:prstGeom prst="roundRect">
            <a:avLst>
              <a:gd name="adj" fmla="val 12500"/>
            </a:avLst>
          </a:prstGeom>
          <a:solidFill>
            <a:srgbClr val="0F2440"/>
          </a:solidFill>
          <a:ln w="9525">
            <a:solidFill>
              <a:srgbClr val="1E3A5F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1756029" y="3461385"/>
            <a:ext cx="464337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python/data/ (Station.csv · Edge.csv · Station_init.csv)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452110" y="2477452"/>
            <a:ext cx="9067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↓ HTTP/JSON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98741" y="2858452"/>
            <a:ext cx="4135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↓ 共享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861294" y="3239452"/>
            <a:ext cx="8841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3762375"/>
            <a:ext cx="4762500" cy="2333625"/>
          </a:xfrm>
          <a:prstGeom prst="roundRect">
            <a:avLst>
              <a:gd name="adj" fmla="val 408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754380" y="3886200"/>
            <a:ext cx="367034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前端极简 UI（Tailwind CDN, 全离线）</a:t>
            </a:r>
          </a:p>
        </p:txBody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285" y="4238625"/>
            <a:ext cx="1224930" cy="17145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756666" y="5935028"/>
            <a:ext cx="28942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91A9C8"/>
                </a:solidFill>
                <a:latin typeface="Arial"/>
                <a:ea typeface="Microsoft YaHei"/>
                <a:cs typeface="Arial"/>
              </a:rPr>
              <a:t>顶部标签 · 卡片式结果 · 路径规划/运营/分析</a:t>
            </a:r>
          </a:p>
        </p:txBody>
      </p:sp>
      <p:sp>
        <p:nvSpPr>
          <p:cNvPr id="23" name="Rectangle 23"/>
          <p:cNvSpPr/>
          <p:nvPr/>
        </p:nvSpPr>
        <p:spPr>
          <a:xfrm>
            <a:off x="5524500" y="3762375"/>
            <a:ext cx="3048000" cy="2333625"/>
          </a:xfrm>
          <a:prstGeom prst="roundRect">
            <a:avLst>
              <a:gd name="adj" fmla="val 408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5707380" y="3886200"/>
            <a:ext cx="1337005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18 REST 端点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708904" y="4251960"/>
            <a:ext cx="932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数据查询 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708904" y="4537710"/>
            <a:ext cx="932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路径规划 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08904" y="4823460"/>
            <a:ext cx="932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站点管理 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08904" y="5109210"/>
            <a:ext cx="93299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网络分析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708904" y="5394960"/>
            <a:ext cx="60990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健康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709666" y="5792152"/>
            <a:ext cx="244190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std::shared_mutex g_state_mutex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763000" y="3762375"/>
            <a:ext cx="3048000" cy="2333625"/>
          </a:xfrm>
          <a:prstGeom prst="roundRect">
            <a:avLst>
              <a:gd name="adj" fmla="val 4082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945880" y="3886200"/>
            <a:ext cx="230512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并发（shared_mutex）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946642" y="4331018"/>
            <a:ext cx="191241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读接口 → shared_lock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38666" y="4601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· 路径规划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38666" y="47920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· 数据查询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38666" y="4982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· 网络分析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946642" y="5188268"/>
            <a:ext cx="18647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写接口 → unique_lock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138666" y="545877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· 站点开关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138666" y="5649278"/>
            <a:ext cx="77396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· 批量/恢复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62900" y="6554152"/>
            <a:ext cx="347243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91A9C8"/>
                </a:solidFill>
                <a:latin typeface="Arial"/>
                <a:ea typeface="Arial"/>
                <a:cs typeface="Arial"/>
              </a:rPr>
              <a:t>C++17 · CMake · cpp-httplib · Vanilla JS · Tailwind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745236" y="501015"/>
            <a:ext cx="3298736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测试验证与总结</a:t>
            </a:r>
          </a:p>
        </p:txBody>
      </p:sp>
      <p:sp>
        <p:nvSpPr>
          <p:cNvPr id="4" name="Line 4"/>
          <p:cNvSpPr/>
          <p:nvPr/>
        </p:nvSpPr>
        <p:spPr>
          <a:xfrm>
            <a:off x="762000" y="10477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28575" cap="rnd">
            <a:solidFill>
              <a:srgbClr val="E4002B"/>
            </a:solidFill>
          </a:ln>
        </p:spPr>
      </p:sp>
      <p:sp>
        <p:nvSpPr>
          <p:cNvPr id="5" name="Rectangle 5"/>
          <p:cNvSpPr/>
          <p:nvPr/>
        </p:nvSpPr>
        <p:spPr>
          <a:xfrm>
            <a:off x="571500" y="1666875"/>
            <a:ext cx="5334000" cy="2524125"/>
          </a:xfrm>
          <a:prstGeom prst="roundRect">
            <a:avLst>
              <a:gd name="adj" fmla="val 377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52856" y="1805940"/>
            <a:ext cx="103601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测试覆盖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5142" y="2235518"/>
            <a:ext cx="345800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test_cases.cpp 41 / 41 ✅ M1-M4 + 扩展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5142" y="2568892"/>
            <a:ext cx="224119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· M1 菜单结构 · 输入验证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55142" y="2902268"/>
            <a:ext cx="284607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· M2 运营管理 · 批量更新 · 恢复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142" y="3235642"/>
            <a:ext cx="27599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· M3 Dijkstra · Yen K-shortest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5142" y="3569018"/>
            <a:ext cx="317276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· M4 最少换乘 · Yen K-min-transfer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5142" y="3854768"/>
            <a:ext cx="401193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coursework_check.cpp 53 / 53 ✅ 课设要求映射</a:t>
            </a:r>
          </a:p>
        </p:txBody>
      </p:sp>
      <p:sp>
        <p:nvSpPr>
          <p:cNvPr id="13" name="Rectangle 13"/>
          <p:cNvSpPr/>
          <p:nvPr/>
        </p:nvSpPr>
        <p:spPr>
          <a:xfrm>
            <a:off x="6286500" y="1666875"/>
            <a:ext cx="5334000" cy="2524125"/>
          </a:xfrm>
          <a:prstGeom prst="roundRect">
            <a:avLst>
              <a:gd name="adj" fmla="val 3774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467856" y="1805940"/>
            <a:ext cx="1506714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6 大模块覆盖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70904" y="2299335"/>
            <a:ext cx="81991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数据集建设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66404" y="2299335"/>
            <a:ext cx="504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10 pts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18904" y="22993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804654" y="2299335"/>
            <a:ext cx="127528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20 线路 API 抓取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70904" y="25850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图拓扑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66404" y="2585085"/>
            <a:ext cx="504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10 pts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18904" y="25850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804654" y="2585085"/>
            <a:ext cx="148224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800 节点 + 换乘拆分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470904" y="28708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路径算法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566404" y="2870835"/>
            <a:ext cx="504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15 pts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18904" y="28708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804654" y="2870835"/>
            <a:ext cx="101071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4 算法 + K 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470904" y="315658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运营管理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66404" y="3156585"/>
            <a:ext cx="50490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15 pts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18904" y="31565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804654" y="3156585"/>
            <a:ext cx="99761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单/批量/恢复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470904" y="3442335"/>
            <a:ext cx="65836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网络分析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566404" y="3442335"/>
            <a:ext cx="41605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5 pts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18904" y="344233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04654" y="3442335"/>
            <a:ext cx="6693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B7C7DE"/>
                </a:solidFill>
                <a:latin typeface="Arial"/>
                <a:ea typeface="Arial"/>
                <a:cs typeface="Arial"/>
              </a:rPr>
              <a:t>BFS/DFS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470904" y="3728085"/>
            <a:ext cx="49682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可视化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66404" y="37280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DDEBFF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518904" y="3728085"/>
            <a:ext cx="101041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D54F"/>
                </a:solidFill>
                <a:latin typeface="Arial"/>
                <a:ea typeface="Arial"/>
                <a:cs typeface="Arial"/>
              </a:rPr>
              <a:t>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04654" y="3728085"/>
            <a:ext cx="137349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B7C7DE"/>
                </a:solidFill>
                <a:latin typeface="Arial"/>
                <a:ea typeface="Microsoft YaHei"/>
                <a:cs typeface="Arial"/>
              </a:rPr>
              <a:t>Web UI + 官方配色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71500" y="4381500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753618" y="4489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收获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5523" y="4862989"/>
            <a:ext cx="42665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C++ 图算法从零实现（Dijkstra · Yen · BFS · DFS）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55523" y="5243989"/>
            <a:ext cx="389831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REST + 并发编程实践（shared_mutex 读写锁）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55523" y="5624989"/>
            <a:ext cx="442897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真实数据集端到端流水线（API → CSV → 图 → 可视化）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56666" y="6173152"/>
            <a:ext cx="40086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1A9C8"/>
                </a:solidFill>
                <a:latin typeface="Consolas"/>
                <a:ea typeface="Consolas"/>
                <a:cs typeface="Consolas"/>
              </a:rPr>
              <a:t>github.com/Weishi-corroding/shanghai-metro-pathfinder</a:t>
            </a:r>
          </a:p>
        </p:txBody>
      </p:sp>
      <p:sp>
        <p:nvSpPr>
          <p:cNvPr id="45" name="Rectangle 45"/>
          <p:cNvSpPr/>
          <p:nvPr/>
        </p:nvSpPr>
        <p:spPr>
          <a:xfrm>
            <a:off x="6286500" y="4381500"/>
            <a:ext cx="5334000" cy="2095500"/>
          </a:xfrm>
          <a:prstGeom prst="roundRect">
            <a:avLst>
              <a:gd name="adj" fmla="val 4545"/>
            </a:avLst>
          </a:prstGeom>
          <a:solidFill>
            <a:srgbClr val="132846"/>
          </a:solidFill>
          <a:ln w="19050">
            <a:solidFill>
              <a:srgbClr val="1E3A5F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6468618" y="4489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D54F"/>
                </a:solidFill>
                <a:latin typeface="Arial"/>
                <a:ea typeface="Microsoft YaHei"/>
                <a:cs typeface="Arial"/>
              </a:rPr>
              <a:t>展望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470523" y="4862989"/>
            <a:ext cx="15319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实时运营状态接入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470523" y="5148739"/>
            <a:ext cx="1255243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移动端 / PWA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470523" y="5434489"/>
            <a:ext cx="2072640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多目标（票价 + 拥挤度）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470523" y="5720239"/>
            <a:ext cx="153197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DDEBFF"/>
                </a:solidFill>
                <a:latin typeface="Arial"/>
                <a:ea typeface="Microsoft YaHei"/>
                <a:cs typeface="Arial"/>
              </a:rPr>
              <a:t>▸ 历史行程学习推荐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512835" y="6173152"/>
            <a:ext cx="29224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1A9C8"/>
                </a:solidFill>
                <a:latin typeface="Consolas"/>
                <a:ea typeface="Microsoft YaHei"/>
                <a:cs typeface="Consolas"/>
              </a:rPr>
              <a:t>东华大学 · 数据结构课设 · 2026-07 · v2.0.0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2026-07-01T05:06:21Z</dcterms:created>
  <dcterms:modified xsi:type="dcterms:W3CDTF">2026-07-01T05:06:21Z</dcterms:modified>
  <cp:category/>
  <cp:contentStatus/>
</cp:coreProperties>
</file>